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4" r:id="rId9"/>
    <p:sldId id="263" r:id="rId10"/>
  </p:sldIdLst>
  <p:sldSz cx="9144000" cy="5143500" type="screen16x9"/>
  <p:notesSz cx="6858000" cy="9144000"/>
  <p:embeddedFontLst>
    <p:embeddedFont>
      <p:font typeface="Inter" panose="020B0604020202020204" charset="0"/>
      <p:regular r:id="rId12"/>
      <p:bold r:id="rId13"/>
      <p:italic r:id="rId14"/>
      <p:boldItalic r:id="rId15"/>
    </p:embeddedFont>
    <p:embeddedFont>
      <p:font typeface="Lato" panose="020F0502020204030203" pitchFamily="34" charset="0"/>
      <p:regular r:id="rId16"/>
      <p:bold r:id="rId17"/>
      <p:italic r:id="rId18"/>
      <p:boldItalic r:id="rId19"/>
    </p:embeddedFont>
    <p:embeddedFont>
      <p:font typeface="Montserrat" panose="000005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7" d="100"/>
          <a:sy n="137" d="100"/>
        </p:scale>
        <p:origin x="786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3c90baff60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3c90baff60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90baff60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90baff60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3c90baff60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3c90baff60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3c90baff60_0_1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3c90baff60_0_1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3c90baff6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3c90baff60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3fcf60ab3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3fcf60ab3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name="adj" fmla="val 0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name="adj" fmla="val 58774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3"/>
          <p:cNvSpPr txBox="1">
            <a:spLocks noGrp="1"/>
          </p:cNvSpPr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" name="Google Shape;46;p4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body" idx="2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7" name="Google Shape;67;p7"/>
          <p:cNvSpPr txBox="1">
            <a:spLocks noGrp="1"/>
          </p:cNvSpPr>
          <p:nvPr>
            <p:ph type="body" idx="1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9" name="Google Shape;89;p8"/>
          <p:cNvSpPr txBox="1">
            <a:spLocks noGrp="1"/>
          </p:cNvSpPr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5" name="Google Shape;95;p9"/>
          <p:cNvSpPr txBox="1">
            <a:spLocks noGrp="1"/>
          </p:cNvSpPr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6" name="Google Shape;96;p9"/>
          <p:cNvSpPr txBox="1">
            <a:spLocks noGrp="1"/>
          </p:cNvSpPr>
          <p:nvPr>
            <p:ph type="subTitle" idx="1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97" name="Google Shape;97;p9"/>
          <p:cNvSpPr txBox="1">
            <a:spLocks noGrp="1"/>
          </p:cNvSpPr>
          <p:nvPr>
            <p:ph type="body" idx="2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98" name="Google Shape;9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3" name="Google Shape;103;p10"/>
          <p:cNvSpPr txBox="1">
            <a:spLocks noGrp="1"/>
          </p:cNvSpPr>
          <p:nvPr>
            <p:ph type="body" idx="1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4" name="Google Shape;10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name="adj" fmla="val 49469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name="adj" fmla="val 0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name="adj" fmla="val 50000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5" name="Google Shape;125;p11"/>
          <p:cNvSpPr txBox="1">
            <a:spLocks noGrp="1"/>
          </p:cNvSpPr>
          <p:nvPr>
            <p:ph type="title" hasCustomPrompt="1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>
            <a:spLocks noGrp="1"/>
          </p:cNvSpPr>
          <p:nvPr>
            <p:ph type="body" idx="1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7" name="Google Shape;12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focus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>
            <a:spLocks noGrp="1"/>
          </p:cNvSpPr>
          <p:nvPr>
            <p:ph type="ctrTitle"/>
          </p:nvPr>
        </p:nvSpPr>
        <p:spPr>
          <a:xfrm>
            <a:off x="3308750" y="487100"/>
            <a:ext cx="5017500" cy="15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Fashion Trend Intelligence</a:t>
            </a:r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subTitle" idx="1"/>
          </p:nvPr>
        </p:nvSpPr>
        <p:spPr>
          <a:xfrm>
            <a:off x="6344450" y="3891100"/>
            <a:ext cx="3470700" cy="5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Desurmont Jonathan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Présentation du projet</a:t>
            </a:r>
            <a:endParaRPr dirty="0"/>
          </a:p>
        </p:txBody>
      </p:sp>
      <p:sp>
        <p:nvSpPr>
          <p:cNvPr id="141" name="Google Shape;141;p14"/>
          <p:cNvSpPr txBox="1">
            <a:spLocks noGrp="1"/>
          </p:cNvSpPr>
          <p:nvPr>
            <p:ph type="body" idx="1"/>
          </p:nvPr>
        </p:nvSpPr>
        <p:spPr>
          <a:xfrm>
            <a:off x="1297499" y="1567550"/>
            <a:ext cx="7234659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Réalisation d’un </a:t>
            </a:r>
            <a:r>
              <a:rPr lang="fr-FR" dirty="0">
                <a:solidFill>
                  <a:srgbClr val="FF0000"/>
                </a:solidFill>
              </a:rPr>
              <a:t>script</a:t>
            </a:r>
            <a:r>
              <a:rPr lang="fr-FR" dirty="0"/>
              <a:t> en </a:t>
            </a:r>
            <a:r>
              <a:rPr lang="fr-FR" dirty="0">
                <a:solidFill>
                  <a:srgbClr val="FF0000"/>
                </a:solidFill>
              </a:rPr>
              <a:t>python</a:t>
            </a:r>
            <a:r>
              <a:rPr lang="fr-FR" dirty="0"/>
              <a:t> pour interroger un </a:t>
            </a:r>
            <a:r>
              <a:rPr lang="fr-FR" dirty="0">
                <a:solidFill>
                  <a:srgbClr val="FF0000"/>
                </a:solidFill>
              </a:rPr>
              <a:t>modèle </a:t>
            </a:r>
            <a:r>
              <a:rPr lang="fr-FR" dirty="0" err="1">
                <a:solidFill>
                  <a:srgbClr val="FF0000"/>
                </a:solidFill>
              </a:rPr>
              <a:t>segformer</a:t>
            </a:r>
            <a:r>
              <a:rPr lang="fr-FR" dirty="0"/>
              <a:t> en licence libre via une </a:t>
            </a:r>
            <a:r>
              <a:rPr lang="fr-FR" dirty="0">
                <a:solidFill>
                  <a:srgbClr val="FF0000"/>
                </a:solidFill>
              </a:rPr>
              <a:t>clé API </a:t>
            </a:r>
            <a:r>
              <a:rPr lang="fr-FR" dirty="0"/>
              <a:t>pour :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	Une </a:t>
            </a:r>
            <a:r>
              <a:rPr lang="fr-FR" dirty="0">
                <a:solidFill>
                  <a:srgbClr val="FF0000"/>
                </a:solidFill>
              </a:rPr>
              <a:t>Segmentation</a:t>
            </a:r>
            <a:r>
              <a:rPr lang="fr-FR" dirty="0"/>
              <a:t> d’image de tenues vestimentaires des principaux influenceurs.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	Une </a:t>
            </a:r>
            <a:r>
              <a:rPr lang="fr-FR" dirty="0">
                <a:solidFill>
                  <a:srgbClr val="FF0000"/>
                </a:solidFill>
              </a:rPr>
              <a:t>Analyse</a:t>
            </a:r>
            <a:r>
              <a:rPr lang="fr-FR" dirty="0"/>
              <a:t> sur </a:t>
            </a:r>
            <a:r>
              <a:rPr lang="fr-FR" dirty="0">
                <a:solidFill>
                  <a:srgbClr val="FF0000"/>
                </a:solidFill>
              </a:rPr>
              <a:t>50 images </a:t>
            </a:r>
            <a:r>
              <a:rPr lang="fr-FR" dirty="0"/>
              <a:t>avec </a:t>
            </a:r>
            <a:r>
              <a:rPr lang="fr-FR" dirty="0">
                <a:solidFill>
                  <a:srgbClr val="FF0000"/>
                </a:solidFill>
              </a:rPr>
              <a:t>différents trends </a:t>
            </a:r>
            <a:r>
              <a:rPr lang="fr-FR" dirty="0"/>
              <a:t>et accessoires de mode.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	Une </a:t>
            </a:r>
            <a:r>
              <a:rPr lang="fr-FR" dirty="0">
                <a:solidFill>
                  <a:schemeClr val="bg1"/>
                </a:solidFill>
              </a:rPr>
              <a:t>évaluation</a:t>
            </a:r>
            <a:r>
              <a:rPr lang="fr-FR" dirty="0">
                <a:solidFill>
                  <a:srgbClr val="FF0000"/>
                </a:solidFill>
              </a:rPr>
              <a:t> qualitative </a:t>
            </a:r>
            <a:r>
              <a:rPr lang="fr-FR" dirty="0"/>
              <a:t>de la viabilité du modèle.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	Une </a:t>
            </a:r>
            <a:r>
              <a:rPr lang="fr-FR" dirty="0">
                <a:solidFill>
                  <a:srgbClr val="FF0000"/>
                </a:solidFill>
              </a:rPr>
              <a:t>estimation</a:t>
            </a:r>
            <a:r>
              <a:rPr lang="fr-FR" dirty="0"/>
              <a:t> pour une </a:t>
            </a:r>
            <a:r>
              <a:rPr lang="fr-FR" dirty="0">
                <a:solidFill>
                  <a:srgbClr val="FF0000"/>
                </a:solidFill>
              </a:rPr>
              <a:t>montée en charge </a:t>
            </a:r>
            <a:r>
              <a:rPr lang="fr-FR" dirty="0"/>
              <a:t>sur 500.000 photos.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 	Une estimation du </a:t>
            </a:r>
            <a:r>
              <a:rPr lang="fr-FR" dirty="0">
                <a:solidFill>
                  <a:srgbClr val="FF0000"/>
                </a:solidFill>
              </a:rPr>
              <a:t>coût</a:t>
            </a:r>
            <a:r>
              <a:rPr lang="fr-FR" dirty="0"/>
              <a:t> en jours/homme.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5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Fonctionnement de Segformer</a:t>
            </a:r>
            <a:endParaRPr dirty="0"/>
          </a:p>
        </p:txBody>
      </p:sp>
      <p:sp>
        <p:nvSpPr>
          <p:cNvPr id="147" name="Google Shape;147;p15"/>
          <p:cNvSpPr txBox="1">
            <a:spLocks noGrp="1"/>
          </p:cNvSpPr>
          <p:nvPr>
            <p:ph type="body" idx="1"/>
          </p:nvPr>
        </p:nvSpPr>
        <p:spPr>
          <a:xfrm>
            <a:off x="1297500" y="946854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>
                <a:solidFill>
                  <a:srgbClr val="FF0000"/>
                </a:solidFill>
              </a:rPr>
              <a:t>Modèle</a:t>
            </a:r>
            <a:r>
              <a:rPr lang="fr-FR" dirty="0"/>
              <a:t> en accès libre sur </a:t>
            </a:r>
            <a:r>
              <a:rPr lang="fr-FR" dirty="0" err="1">
                <a:solidFill>
                  <a:srgbClr val="FF0000"/>
                </a:solidFill>
              </a:rPr>
              <a:t>Hugging</a:t>
            </a:r>
            <a:r>
              <a:rPr lang="fr-FR" dirty="0">
                <a:solidFill>
                  <a:srgbClr val="FF0000"/>
                </a:solidFill>
              </a:rPr>
              <a:t> Face </a:t>
            </a:r>
            <a:r>
              <a:rPr lang="fr-FR" dirty="0"/>
              <a:t>via </a:t>
            </a:r>
            <a:r>
              <a:rPr lang="fr-FR" dirty="0">
                <a:solidFill>
                  <a:srgbClr val="FF0000"/>
                </a:solidFill>
              </a:rPr>
              <a:t>licence MIT </a:t>
            </a:r>
            <a:r>
              <a:rPr lang="fr-FR" dirty="0"/>
              <a:t>grâce à un simple </a:t>
            </a:r>
            <a:r>
              <a:rPr lang="fr-FR" dirty="0" err="1">
                <a:solidFill>
                  <a:srgbClr val="FF0000"/>
                </a:solidFill>
              </a:rPr>
              <a:t>token</a:t>
            </a:r>
            <a:r>
              <a:rPr lang="fr-FR" dirty="0">
                <a:solidFill>
                  <a:srgbClr val="FF0000"/>
                </a:solidFill>
              </a:rPr>
              <a:t> gratuit (clé API). </a:t>
            </a:r>
          </a:p>
          <a:p>
            <a:pPr marL="0" lvl="0" indent="0">
              <a:spcAft>
                <a:spcPts val="1200"/>
              </a:spcAft>
              <a:buNone/>
            </a:pPr>
            <a:r>
              <a:rPr lang="fr-FR" dirty="0">
                <a:solidFill>
                  <a:schemeClr val="bg1"/>
                </a:solidFill>
              </a:rPr>
              <a:t>Entraîné sur le </a:t>
            </a:r>
            <a:r>
              <a:rPr lang="fr-FR" dirty="0" err="1">
                <a:solidFill>
                  <a:schemeClr val="bg1"/>
                </a:solidFill>
              </a:rPr>
              <a:t>Dataset</a:t>
            </a:r>
            <a:r>
              <a:rPr lang="fr-FR" dirty="0">
                <a:solidFill>
                  <a:schemeClr val="bg1"/>
                </a:solidFill>
              </a:rPr>
              <a:t> ATR de 17 706 </a:t>
            </a:r>
            <a:r>
              <a:rPr lang="fr-FR" dirty="0" err="1"/>
              <a:t>mattmdjaga</a:t>
            </a:r>
            <a:r>
              <a:rPr lang="fr-FR" dirty="0"/>
              <a:t>/</a:t>
            </a:r>
            <a:r>
              <a:rPr lang="fr-FR" dirty="0" err="1"/>
              <a:t>human_parsing_dataset</a:t>
            </a:r>
            <a:endParaRPr lang="fr-FR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Nécessite une </a:t>
            </a:r>
            <a:r>
              <a:rPr lang="fr-FR" dirty="0">
                <a:solidFill>
                  <a:srgbClr val="FF0000"/>
                </a:solidFill>
              </a:rPr>
              <a:t>Image réelle </a:t>
            </a:r>
            <a:r>
              <a:rPr lang="fr-FR" dirty="0"/>
              <a:t>de mode idéalement en </a:t>
            </a:r>
            <a:r>
              <a:rPr lang="fr-FR" dirty="0">
                <a:solidFill>
                  <a:srgbClr val="FF0000"/>
                </a:solidFill>
              </a:rPr>
              <a:t>600x400</a:t>
            </a:r>
            <a:r>
              <a:rPr lang="fr-FR" dirty="0"/>
              <a:t> au format .jpeg, .jpg, .png, .</a:t>
            </a:r>
            <a:r>
              <a:rPr lang="fr-FR" dirty="0" err="1"/>
              <a:t>webp</a:t>
            </a:r>
            <a:r>
              <a:rPr lang="fr-FR" dirty="0"/>
              <a:t>,  avec les </a:t>
            </a:r>
            <a:r>
              <a:rPr lang="fr-FR" dirty="0">
                <a:solidFill>
                  <a:srgbClr val="FF0000"/>
                </a:solidFill>
              </a:rPr>
              <a:t>masques</a:t>
            </a:r>
            <a:r>
              <a:rPr lang="fr-FR" dirty="0"/>
              <a:t> associés pour chaque image.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Le script </a:t>
            </a:r>
            <a:r>
              <a:rPr lang="fr-FR" dirty="0">
                <a:solidFill>
                  <a:srgbClr val="FF0000"/>
                </a:solidFill>
              </a:rPr>
              <a:t>python</a:t>
            </a:r>
            <a:r>
              <a:rPr lang="fr-FR" dirty="0"/>
              <a:t> installé sur l’ordinateur fournit les images au </a:t>
            </a:r>
            <a:r>
              <a:rPr lang="fr-FR" dirty="0">
                <a:solidFill>
                  <a:srgbClr val="FF0000"/>
                </a:solidFill>
              </a:rPr>
              <a:t>modèle</a:t>
            </a:r>
            <a:r>
              <a:rPr lang="fr-FR" dirty="0"/>
              <a:t> (rangées dans un dossier cible) en </a:t>
            </a:r>
            <a:r>
              <a:rPr lang="fr-FR" dirty="0">
                <a:solidFill>
                  <a:srgbClr val="FF0000"/>
                </a:solidFill>
              </a:rPr>
              <a:t>entrée</a:t>
            </a:r>
            <a:r>
              <a:rPr lang="fr-FR" dirty="0"/>
              <a:t> qui les segmente selon </a:t>
            </a:r>
            <a:r>
              <a:rPr lang="fr-FR" dirty="0">
                <a:solidFill>
                  <a:srgbClr val="FF0000"/>
                </a:solidFill>
              </a:rPr>
              <a:t>17 classes d’objets </a:t>
            </a:r>
            <a:r>
              <a:rPr lang="fr-FR" dirty="0"/>
              <a:t>définis implicitement par le modèle (jupe, haut, robe, écharpe, visage, bras gauche, ceinture...)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En sortie, 3 images :  </a:t>
            </a:r>
            <a:r>
              <a:rPr lang="fr-FR" dirty="0">
                <a:solidFill>
                  <a:srgbClr val="FF0000"/>
                </a:solidFill>
              </a:rPr>
              <a:t>l’image réelle </a:t>
            </a:r>
            <a:r>
              <a:rPr lang="fr-FR" dirty="0"/>
              <a:t>comparée à </a:t>
            </a:r>
            <a:r>
              <a:rPr lang="fr-FR" dirty="0">
                <a:solidFill>
                  <a:srgbClr val="FF0000"/>
                </a:solidFill>
              </a:rPr>
              <a:t>l’image masquée </a:t>
            </a:r>
            <a:r>
              <a:rPr lang="fr-FR" dirty="0"/>
              <a:t>colorée grossièrement résultat de l’entrainement, et enfin </a:t>
            </a:r>
            <a:r>
              <a:rPr lang="fr-FR" dirty="0">
                <a:solidFill>
                  <a:srgbClr val="FF0000"/>
                </a:solidFill>
              </a:rPr>
              <a:t>l’image segmentée et prédite </a:t>
            </a:r>
            <a:r>
              <a:rPr lang="fr-FR" dirty="0"/>
              <a:t>(couleurs de classes d’objets appliquées). Dans notre configuration 2 séries d’images de 3 images dans une fenêtre pour comparaison.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 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31063E2-256F-FFEF-5DEF-F8F7398EB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867" y="3432623"/>
            <a:ext cx="3108266" cy="15280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Performances du modèle sur les 50 images </a:t>
            </a:r>
            <a:endParaRPr dirty="0"/>
          </a:p>
        </p:txBody>
      </p:sp>
      <p:sp>
        <p:nvSpPr>
          <p:cNvPr id="153" name="Google Shape;153;p16"/>
          <p:cNvSpPr txBox="1">
            <a:spLocks noGrp="1"/>
          </p:cNvSpPr>
          <p:nvPr>
            <p:ph type="body" idx="1"/>
          </p:nvPr>
        </p:nvSpPr>
        <p:spPr>
          <a:xfrm>
            <a:off x="1297500" y="1170921"/>
            <a:ext cx="7038900" cy="33940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/>
              <a:t>Performances avancées par le concepteur du modèle :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/>
              <a:t>	Précision moyenne </a:t>
            </a:r>
            <a:r>
              <a:rPr lang="fr-FR" sz="4000" dirty="0">
                <a:solidFill>
                  <a:srgbClr val="FF0000"/>
                </a:solidFill>
              </a:rPr>
              <a:t>80 %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/>
              <a:t>	</a:t>
            </a:r>
            <a:r>
              <a:rPr lang="fr-FR" sz="4000" dirty="0" err="1"/>
              <a:t>IoU</a:t>
            </a:r>
            <a:r>
              <a:rPr lang="fr-FR" sz="4000" dirty="0"/>
              <a:t> moyen (Intersection over Union) </a:t>
            </a:r>
            <a:r>
              <a:rPr lang="fr-FR" sz="4000" dirty="0">
                <a:solidFill>
                  <a:srgbClr val="FF0000"/>
                </a:solidFill>
              </a:rPr>
              <a:t>69 % </a:t>
            </a:r>
            <a:endParaRPr lang="fr-FR" sz="4000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/>
              <a:t>Performances constatées sur </a:t>
            </a:r>
            <a:r>
              <a:rPr lang="fr-FR" sz="4000" dirty="0">
                <a:solidFill>
                  <a:srgbClr val="FF0000"/>
                </a:solidFill>
              </a:rPr>
              <a:t>50</a:t>
            </a:r>
            <a:r>
              <a:rPr lang="fr-FR" sz="4000" dirty="0"/>
              <a:t> images :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/>
              <a:t> 	</a:t>
            </a:r>
            <a:r>
              <a:rPr lang="fr-FR" sz="4000" dirty="0">
                <a:solidFill>
                  <a:srgbClr val="FF0000"/>
                </a:solidFill>
              </a:rPr>
              <a:t>45/50 </a:t>
            </a:r>
            <a:r>
              <a:rPr lang="fr-FR" sz="4000" dirty="0"/>
              <a:t>images segmentées de manière viable soit une précision moyenne de </a:t>
            </a:r>
            <a:r>
              <a:rPr lang="fr-FR" sz="4000" dirty="0">
                <a:solidFill>
                  <a:srgbClr val="FF0000"/>
                </a:solidFill>
              </a:rPr>
              <a:t>90 %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>
                <a:solidFill>
                  <a:srgbClr val="FF0000"/>
                </a:solidFill>
              </a:rPr>
              <a:t>	</a:t>
            </a:r>
            <a:r>
              <a:rPr lang="fr-FR" sz="4000" dirty="0">
                <a:solidFill>
                  <a:schemeClr val="bg1"/>
                </a:solidFill>
              </a:rPr>
              <a:t>Erreurs rencontrées sur </a:t>
            </a:r>
            <a:r>
              <a:rPr lang="fr-FR" sz="4000" dirty="0">
                <a:solidFill>
                  <a:srgbClr val="FF0000"/>
                </a:solidFill>
              </a:rPr>
              <a:t>typologie d’images </a:t>
            </a:r>
            <a:r>
              <a:rPr lang="fr-FR" sz="4000" dirty="0">
                <a:solidFill>
                  <a:schemeClr val="bg1"/>
                </a:solidFill>
              </a:rPr>
              <a:t>vestimentaires complexes ou </a:t>
            </a:r>
            <a:r>
              <a:rPr lang="fr-FR" sz="4000" dirty="0">
                <a:solidFill>
                  <a:srgbClr val="FF0000"/>
                </a:solidFill>
              </a:rPr>
              <a:t>non explicites </a:t>
            </a:r>
            <a:r>
              <a:rPr lang="fr-FR" sz="4000" dirty="0">
                <a:solidFill>
                  <a:schemeClr val="bg1"/>
                </a:solidFill>
              </a:rPr>
              <a:t>	</a:t>
            </a:r>
          </a:p>
          <a:p>
            <a:pPr marL="1165225" lvl="0" indent="-446088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>
                <a:solidFill>
                  <a:schemeClr val="bg1"/>
                </a:solidFill>
              </a:rPr>
              <a:t>	   </a:t>
            </a:r>
            <a:r>
              <a:rPr lang="fr-FR" sz="4000" dirty="0">
                <a:solidFill>
                  <a:srgbClr val="FF0000"/>
                </a:solidFill>
              </a:rPr>
              <a:t>Ceintures</a:t>
            </a:r>
            <a:r>
              <a:rPr lang="fr-FR" sz="4000" dirty="0">
                <a:solidFill>
                  <a:schemeClr val="bg1"/>
                </a:solidFill>
              </a:rPr>
              <a:t> non détectées (petite quantité de </a:t>
            </a:r>
            <a:r>
              <a:rPr lang="fr-FR" sz="4000" dirty="0">
                <a:solidFill>
                  <a:srgbClr val="FF0000"/>
                </a:solidFill>
              </a:rPr>
              <a:t>pixels</a:t>
            </a:r>
            <a:r>
              <a:rPr lang="fr-FR" sz="4000" dirty="0">
                <a:solidFill>
                  <a:schemeClr val="bg1"/>
                </a:solidFill>
              </a:rPr>
              <a:t>)</a:t>
            </a:r>
          </a:p>
          <a:p>
            <a:pPr marL="1255713" lvl="0" indent="-1255713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>
                <a:solidFill>
                  <a:schemeClr val="bg1"/>
                </a:solidFill>
              </a:rPr>
              <a:t>	</a:t>
            </a:r>
            <a:r>
              <a:rPr lang="fr-FR" sz="4000" dirty="0">
                <a:solidFill>
                  <a:srgbClr val="FF0000"/>
                </a:solidFill>
              </a:rPr>
              <a:t>Lunettes</a:t>
            </a:r>
            <a:r>
              <a:rPr lang="fr-FR" sz="4000" dirty="0">
                <a:solidFill>
                  <a:schemeClr val="bg1"/>
                </a:solidFill>
              </a:rPr>
              <a:t> </a:t>
            </a:r>
            <a:r>
              <a:rPr lang="fr-FR" sz="4000" dirty="0">
                <a:solidFill>
                  <a:srgbClr val="FF0000"/>
                </a:solidFill>
              </a:rPr>
              <a:t>normales</a:t>
            </a:r>
            <a:r>
              <a:rPr lang="fr-FR" sz="4000" dirty="0">
                <a:solidFill>
                  <a:schemeClr val="bg1"/>
                </a:solidFill>
              </a:rPr>
              <a:t> détectées comme </a:t>
            </a:r>
            <a:r>
              <a:rPr lang="fr-FR" sz="4000" dirty="0">
                <a:solidFill>
                  <a:srgbClr val="FF0000"/>
                </a:solidFill>
              </a:rPr>
              <a:t>lunettes de soleil</a:t>
            </a:r>
          </a:p>
          <a:p>
            <a:pPr marL="1255713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>
                <a:solidFill>
                  <a:srgbClr val="FF0000"/>
                </a:solidFill>
              </a:rPr>
              <a:t>Jupe</a:t>
            </a:r>
            <a:r>
              <a:rPr lang="fr-FR" sz="4000" dirty="0">
                <a:solidFill>
                  <a:schemeClr val="bg1"/>
                </a:solidFill>
              </a:rPr>
              <a:t> non différenciée du </a:t>
            </a:r>
            <a:r>
              <a:rPr lang="fr-FR" sz="4000" dirty="0">
                <a:solidFill>
                  <a:srgbClr val="FF0000"/>
                </a:solidFill>
              </a:rPr>
              <a:t>pantalon</a:t>
            </a:r>
            <a:r>
              <a:rPr lang="fr-FR" sz="4000" dirty="0">
                <a:solidFill>
                  <a:schemeClr val="bg1"/>
                </a:solidFill>
              </a:rPr>
              <a:t> ou du </a:t>
            </a:r>
            <a:r>
              <a:rPr lang="fr-FR" sz="4000" dirty="0">
                <a:solidFill>
                  <a:srgbClr val="FF0000"/>
                </a:solidFill>
              </a:rPr>
              <a:t>haut</a:t>
            </a:r>
          </a:p>
          <a:p>
            <a:pPr marL="1255713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>
                <a:solidFill>
                  <a:srgbClr val="FF0000"/>
                </a:solidFill>
              </a:rPr>
              <a:t>Sac</a:t>
            </a:r>
            <a:r>
              <a:rPr lang="fr-FR" sz="4000" dirty="0">
                <a:solidFill>
                  <a:schemeClr val="bg1"/>
                </a:solidFill>
              </a:rPr>
              <a:t> détecté sur le même code couleur que </a:t>
            </a:r>
            <a:r>
              <a:rPr lang="fr-FR" sz="4000" dirty="0">
                <a:solidFill>
                  <a:srgbClr val="FF0000"/>
                </a:solidFill>
              </a:rPr>
              <a:t>chaussure</a:t>
            </a:r>
            <a:r>
              <a:rPr lang="fr-FR" sz="4000" dirty="0">
                <a:solidFill>
                  <a:schemeClr val="bg1"/>
                </a:solidFill>
              </a:rPr>
              <a:t> </a:t>
            </a:r>
          </a:p>
          <a:p>
            <a:pPr marL="1255713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>
                <a:solidFill>
                  <a:srgbClr val="FF0000"/>
                </a:solidFill>
              </a:rPr>
              <a:t>Chaussure</a:t>
            </a:r>
            <a:r>
              <a:rPr lang="fr-FR" sz="4000" dirty="0">
                <a:solidFill>
                  <a:schemeClr val="bg1"/>
                </a:solidFill>
              </a:rPr>
              <a:t> gauche et droite mal différenciées, réunification dans </a:t>
            </a:r>
            <a:r>
              <a:rPr lang="fr-FR" sz="4000" dirty="0">
                <a:solidFill>
                  <a:srgbClr val="FF0000"/>
                </a:solidFill>
              </a:rPr>
              <a:t>une seule classe chaussures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7200" dirty="0">
                <a:solidFill>
                  <a:schemeClr val="bg1"/>
                </a:solidFill>
              </a:rPr>
              <a:t>Conclusion statistique : chiffres du concepteur fiables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fr-FR" sz="4000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sz="4000" dirty="0">
                <a:solidFill>
                  <a:srgbClr val="FF0000"/>
                </a:solidFill>
              </a:rPr>
              <a:t>		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	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7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Proposition d’une méthode de validation du modèle</a:t>
            </a:r>
            <a:endParaRPr dirty="0"/>
          </a:p>
        </p:txBody>
      </p:sp>
      <p:sp>
        <p:nvSpPr>
          <p:cNvPr id="159" name="Google Shape;159;p17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La méthode la plus idéale comme avancée par le concepteur du modèle est la méthode </a:t>
            </a:r>
            <a:r>
              <a:rPr lang="fr-FR" dirty="0" err="1"/>
              <a:t>IoU</a:t>
            </a:r>
            <a:r>
              <a:rPr lang="fr-FR" dirty="0"/>
              <a:t>: 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>
                <a:solidFill>
                  <a:srgbClr val="FF0000"/>
                </a:solidFill>
              </a:rPr>
              <a:t>Intersection over Union : </a:t>
            </a:r>
            <a:r>
              <a:rPr lang="fr-FR" dirty="0">
                <a:solidFill>
                  <a:schemeClr val="bg1"/>
                </a:solidFill>
              </a:rPr>
              <a:t>Prédiction du pixel en fonction du masque d’entraînement</a:t>
            </a:r>
            <a:endParaRPr lang="fr-FR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Pixel pour chaque </a:t>
            </a:r>
            <a:r>
              <a:rPr lang="fr-FR" dirty="0">
                <a:solidFill>
                  <a:srgbClr val="FF0000"/>
                </a:solidFill>
              </a:rPr>
              <a:t>classe</a:t>
            </a:r>
            <a:r>
              <a:rPr lang="fr-FR" dirty="0"/>
              <a:t> d’objet prédit par le modèle  :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/>
              <a:t>TP = </a:t>
            </a:r>
            <a:r>
              <a:rPr lang="fr-FR" dirty="0">
                <a:solidFill>
                  <a:srgbClr val="FF0000"/>
                </a:solidFill>
              </a:rPr>
              <a:t>Vrai</a:t>
            </a:r>
            <a:r>
              <a:rPr lang="fr-FR" dirty="0"/>
              <a:t> </a:t>
            </a:r>
            <a:r>
              <a:rPr lang="fr-FR" dirty="0">
                <a:solidFill>
                  <a:srgbClr val="FF0000"/>
                </a:solidFill>
              </a:rPr>
              <a:t>positif</a:t>
            </a:r>
            <a:r>
              <a:rPr lang="fr-FR" dirty="0"/>
              <a:t>,  FP = </a:t>
            </a:r>
            <a:r>
              <a:rPr lang="fr-FR" dirty="0">
                <a:solidFill>
                  <a:srgbClr val="FF0000"/>
                </a:solidFill>
              </a:rPr>
              <a:t>Faux positif</a:t>
            </a:r>
            <a:r>
              <a:rPr lang="fr-FR" dirty="0"/>
              <a:t>, FN = </a:t>
            </a:r>
            <a:r>
              <a:rPr lang="fr-FR" dirty="0">
                <a:solidFill>
                  <a:srgbClr val="FF0000"/>
                </a:solidFill>
              </a:rPr>
              <a:t>Faux négatif</a:t>
            </a: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fr-FR" dirty="0" err="1">
                <a:solidFill>
                  <a:srgbClr val="FF0000"/>
                </a:solidFill>
              </a:rPr>
              <a:t>IoU</a:t>
            </a:r>
            <a:r>
              <a:rPr lang="fr-FR" dirty="0">
                <a:solidFill>
                  <a:srgbClr val="FF0000"/>
                </a:solidFill>
              </a:rPr>
              <a:t> </a:t>
            </a:r>
            <a:r>
              <a:rPr lang="fr-FR" dirty="0"/>
              <a:t>Moyen : 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D7DBAD5E-8C38-77C7-0372-9B2CC0752A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9328" y="2603991"/>
            <a:ext cx="2619741" cy="838317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1838853-32AA-43AA-6657-CAC4988037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5434" y="3659486"/>
            <a:ext cx="2238687" cy="8192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4AA117-3BF1-8412-E6D8-9AB8A9F72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IoU</a:t>
            </a:r>
            <a:r>
              <a:rPr lang="fr-FR" dirty="0"/>
              <a:t> Résultats sur 50 images</a:t>
            </a: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CA71BEAE-148E-5368-B532-2D9E27CBDA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3667808"/>
              </p:ext>
            </p:extLst>
          </p:nvPr>
        </p:nvGraphicFramePr>
        <p:xfrm>
          <a:off x="1362734" y="1111397"/>
          <a:ext cx="4465695" cy="37485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39794">
                  <a:extLst>
                    <a:ext uri="{9D8B030D-6E8A-4147-A177-3AD203B41FA5}">
                      <a16:colId xmlns:a16="http://schemas.microsoft.com/office/drawing/2014/main" val="288118577"/>
                    </a:ext>
                  </a:extLst>
                </a:gridCol>
                <a:gridCol w="1138353">
                  <a:extLst>
                    <a:ext uri="{9D8B030D-6E8A-4147-A177-3AD203B41FA5}">
                      <a16:colId xmlns:a16="http://schemas.microsoft.com/office/drawing/2014/main" val="2764965715"/>
                    </a:ext>
                  </a:extLst>
                </a:gridCol>
                <a:gridCol w="1147716">
                  <a:extLst>
                    <a:ext uri="{9D8B030D-6E8A-4147-A177-3AD203B41FA5}">
                      <a16:colId xmlns:a16="http://schemas.microsoft.com/office/drawing/2014/main" val="2405408156"/>
                    </a:ext>
                  </a:extLst>
                </a:gridCol>
                <a:gridCol w="1139832">
                  <a:extLst>
                    <a:ext uri="{9D8B030D-6E8A-4147-A177-3AD203B41FA5}">
                      <a16:colId xmlns:a16="http://schemas.microsoft.com/office/drawing/2014/main" val="2860821730"/>
                    </a:ext>
                  </a:extLst>
                </a:gridCol>
              </a:tblGrid>
              <a:tr h="2857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ID 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Classe d’objet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 dirty="0" err="1">
                          <a:effectLst/>
                        </a:rPr>
                        <a:t>IoU</a:t>
                      </a:r>
                      <a:r>
                        <a:rPr lang="fr-FR" sz="1000" kern="100" dirty="0">
                          <a:effectLst/>
                        </a:rPr>
                        <a:t> Avancé par le concepteur du modèle</a:t>
                      </a:r>
                      <a:endParaRPr lang="fr-FR" sz="1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IoU sur mes 50 images arrondi 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2463122149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 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Arrière-Plan 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0.99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0.99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1330390693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Chapeau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0.68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0.86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1981702643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2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Cheveux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0.82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0.81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3295943197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3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Lunettes de soleil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0.63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0.70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2234616980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Haut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0.78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0.89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4075252039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5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Jupe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0.65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0.94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855330832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6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Pantalon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0.91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2958546916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7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Robe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0.55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0.80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1376669373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8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Ceinture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0.30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0.56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14832478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9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Chaussures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0.59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0.76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1576238610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10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Visage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0.85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4196556579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11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Jambe gauche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0.82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0.43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370379985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12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Jambe droite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0.81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0.24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563538528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13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Bras gauche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0.74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0.35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824552600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Bras Droit 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0.73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0.34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1245688315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15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Sac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0.74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2797344088"/>
                  </a:ext>
                </a:extLst>
              </a:tr>
              <a:tr h="1391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16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Echarpe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0.29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0.82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2418888451"/>
                  </a:ext>
                </a:extLst>
              </a:tr>
              <a:tr h="2857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mIoU (All Classes)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 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 dirty="0">
                          <a:effectLst/>
                        </a:rPr>
                        <a:t>0.69</a:t>
                      </a:r>
                      <a:endParaRPr lang="fr-FR" sz="1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0.70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3849783798"/>
                  </a:ext>
                </a:extLst>
              </a:tr>
              <a:tr h="28577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mIoU (Without Background)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 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>
                          <a:effectLst/>
                        </a:rPr>
                        <a:t> </a:t>
                      </a:r>
                      <a:endParaRPr lang="fr-FR" sz="10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000" kern="100" dirty="0">
                          <a:effectLst/>
                        </a:rPr>
                        <a:t>0.69</a:t>
                      </a:r>
                      <a:endParaRPr lang="fr-FR" sz="1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1854" marR="61854" marT="0" marB="0"/>
                </a:tc>
                <a:extLst>
                  <a:ext uri="{0D108BD9-81ED-4DB2-BD59-A6C34878D82A}">
                    <a16:rowId xmlns:a16="http://schemas.microsoft.com/office/drawing/2014/main" val="4068323979"/>
                  </a:ext>
                </a:extLst>
              </a:tr>
            </a:tbl>
          </a:graphicData>
        </a:graphic>
      </p:graphicFrame>
      <p:sp>
        <p:nvSpPr>
          <p:cNvPr id="6" name="ZoneTexte 5">
            <a:extLst>
              <a:ext uri="{FF2B5EF4-FFF2-40B4-BE49-F238E27FC236}">
                <a16:creationId xmlns:a16="http://schemas.microsoft.com/office/drawing/2014/main" id="{F5FF22A8-01CC-9959-DD75-AB14D2399EC9}"/>
              </a:ext>
            </a:extLst>
          </p:cNvPr>
          <p:cNvSpPr txBox="1"/>
          <p:nvPr/>
        </p:nvSpPr>
        <p:spPr>
          <a:xfrm>
            <a:off x="6005313" y="3905822"/>
            <a:ext cx="233108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Résultats sur </a:t>
            </a:r>
            <a:r>
              <a:rPr lang="fr-FR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50</a:t>
            </a:r>
            <a:r>
              <a:rPr lang="fr-FR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images</a:t>
            </a:r>
          </a:p>
          <a:p>
            <a:r>
              <a:rPr lang="fr-FR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légèrement supérieur pour </a:t>
            </a:r>
          </a:p>
          <a:p>
            <a:r>
              <a:rPr lang="fr-FR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certaines classes </a:t>
            </a:r>
          </a:p>
          <a:p>
            <a:r>
              <a:rPr lang="fr-FR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et </a:t>
            </a:r>
            <a:r>
              <a:rPr lang="fr-FR" dirty="0">
                <a:solidFill>
                  <a:srgbClr val="FF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conforme</a:t>
            </a:r>
            <a:r>
              <a:rPr lang="fr-FR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 au final </a:t>
            </a:r>
          </a:p>
        </p:txBody>
      </p:sp>
    </p:spTree>
    <p:extLst>
      <p:ext uri="{BB962C8B-B14F-4D97-AF65-F5344CB8AC3E}">
        <p14:creationId xmlns:p14="http://schemas.microsoft.com/office/powerpoint/2010/main" val="4113326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Passage à l’échelle</a:t>
            </a:r>
            <a:endParaRPr dirty="0"/>
          </a:p>
        </p:txBody>
      </p:sp>
      <p:sp>
        <p:nvSpPr>
          <p:cNvPr id="165" name="Google Shape;165;p18"/>
          <p:cNvSpPr txBox="1">
            <a:spLocks noGrp="1"/>
          </p:cNvSpPr>
          <p:nvPr>
            <p:ph type="body" idx="1"/>
          </p:nvPr>
        </p:nvSpPr>
        <p:spPr>
          <a:xfrm>
            <a:off x="1297500" y="1567550"/>
            <a:ext cx="7038900" cy="25228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Aft>
                <a:spcPts val="1200"/>
              </a:spcAft>
              <a:buNone/>
            </a:pPr>
            <a:r>
              <a:rPr lang="fr" sz="1000" dirty="0"/>
              <a:t>Constaté : 50 images </a:t>
            </a:r>
            <a:r>
              <a:rPr lang="fr-FR" sz="1000" dirty="0">
                <a:solidFill>
                  <a:srgbClr val="FF0000"/>
                </a:solidFill>
              </a:rPr>
              <a:t>⩰</a:t>
            </a:r>
            <a:r>
              <a:rPr lang="fr-FR" sz="1000" dirty="0"/>
              <a:t> </a:t>
            </a:r>
            <a:r>
              <a:rPr lang="fr-FR" sz="1000" dirty="0">
                <a:solidFill>
                  <a:srgbClr val="FF0000"/>
                </a:solidFill>
              </a:rPr>
              <a:t>180</a:t>
            </a:r>
            <a:r>
              <a:rPr lang="fr-FR" sz="1000" dirty="0"/>
              <a:t> secondes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fr-FR" sz="1000" dirty="0">
                <a:solidFill>
                  <a:srgbClr val="FF0000"/>
                </a:solidFill>
              </a:rPr>
              <a:t>Prédiction chiffrée :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fr-FR" sz="1000" dirty="0"/>
              <a:t>500.000 images sur </a:t>
            </a:r>
            <a:r>
              <a:rPr lang="fr-FR" sz="1000" dirty="0">
                <a:solidFill>
                  <a:srgbClr val="FF0000"/>
                </a:solidFill>
              </a:rPr>
              <a:t>1</a:t>
            </a:r>
            <a:r>
              <a:rPr lang="fr-FR" sz="1000" dirty="0"/>
              <a:t> ordinateur : </a:t>
            </a:r>
            <a:r>
              <a:rPr lang="fr-FR" sz="1000" dirty="0">
                <a:solidFill>
                  <a:srgbClr val="FF0000"/>
                </a:solidFill>
              </a:rPr>
              <a:t>⩰</a:t>
            </a:r>
            <a:r>
              <a:rPr lang="fr-FR" sz="1000" dirty="0"/>
              <a:t> </a:t>
            </a:r>
            <a:r>
              <a:rPr lang="fr-FR" sz="1000" dirty="0">
                <a:solidFill>
                  <a:srgbClr val="FF0000"/>
                </a:solidFill>
              </a:rPr>
              <a:t>21</a:t>
            </a:r>
            <a:r>
              <a:rPr lang="fr-FR" sz="1000" dirty="0"/>
              <a:t> jours de calcul et </a:t>
            </a:r>
            <a:r>
              <a:rPr lang="fr-FR" sz="1000" dirty="0">
                <a:solidFill>
                  <a:srgbClr val="FF0000"/>
                </a:solidFill>
              </a:rPr>
              <a:t>9</a:t>
            </a:r>
            <a:r>
              <a:rPr lang="fr-FR" sz="1000" dirty="0"/>
              <a:t> jours pour une vérification rapide des images segmentée.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fr-FR" sz="1000" dirty="0"/>
              <a:t>Conclusion en </a:t>
            </a:r>
            <a:r>
              <a:rPr lang="fr-FR" sz="1000" dirty="0">
                <a:solidFill>
                  <a:srgbClr val="FF0000"/>
                </a:solidFill>
              </a:rPr>
              <a:t>30</a:t>
            </a:r>
            <a:r>
              <a:rPr lang="fr-FR" sz="1000" dirty="0"/>
              <a:t> jours : Risque de plantage… peu fiable.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fr-FR" sz="1000" dirty="0"/>
              <a:t>Cluster de </a:t>
            </a:r>
            <a:r>
              <a:rPr lang="fr-FR" sz="1000" dirty="0">
                <a:solidFill>
                  <a:srgbClr val="FF0000"/>
                </a:solidFill>
              </a:rPr>
              <a:t>5</a:t>
            </a:r>
            <a:r>
              <a:rPr lang="fr-FR" sz="1000" dirty="0"/>
              <a:t> ordinateurs qui traitent un jeu de </a:t>
            </a:r>
            <a:r>
              <a:rPr lang="fr-FR" sz="1000" dirty="0">
                <a:solidFill>
                  <a:srgbClr val="FF0000"/>
                </a:solidFill>
              </a:rPr>
              <a:t>100.000 images </a:t>
            </a:r>
            <a:r>
              <a:rPr lang="fr-FR" sz="1000" dirty="0"/>
              <a:t>simultanément </a:t>
            </a:r>
            <a:r>
              <a:rPr lang="fr-FR" sz="1000" dirty="0">
                <a:solidFill>
                  <a:srgbClr val="FF0000"/>
                </a:solidFill>
              </a:rPr>
              <a:t>⩰</a:t>
            </a:r>
            <a:r>
              <a:rPr lang="fr-FR" sz="1000" dirty="0"/>
              <a:t> </a:t>
            </a:r>
            <a:r>
              <a:rPr lang="fr-FR" sz="1000" dirty="0">
                <a:solidFill>
                  <a:srgbClr val="FF0000"/>
                </a:solidFill>
              </a:rPr>
              <a:t>4,5 jours </a:t>
            </a:r>
            <a:r>
              <a:rPr lang="fr-FR" sz="1000" dirty="0"/>
              <a:t>de calcul soit </a:t>
            </a:r>
            <a:r>
              <a:rPr lang="fr-FR" sz="1000" dirty="0">
                <a:solidFill>
                  <a:srgbClr val="FF0000"/>
                </a:solidFill>
              </a:rPr>
              <a:t>13,5</a:t>
            </a:r>
            <a:r>
              <a:rPr lang="fr-FR" sz="1000" dirty="0"/>
              <a:t> jours 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fr-FR" sz="1000" dirty="0"/>
              <a:t>Conclusion : plus fiable.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fr-FR" sz="1000" dirty="0"/>
              <a:t>Cluster de </a:t>
            </a:r>
            <a:r>
              <a:rPr lang="fr-FR" sz="1000" dirty="0">
                <a:solidFill>
                  <a:srgbClr val="FF0000"/>
                </a:solidFill>
              </a:rPr>
              <a:t>10</a:t>
            </a:r>
            <a:r>
              <a:rPr lang="fr-FR" sz="1000" dirty="0"/>
              <a:t> ordinateurs qui traitent </a:t>
            </a:r>
            <a:r>
              <a:rPr lang="fr-FR" sz="1000" dirty="0">
                <a:solidFill>
                  <a:srgbClr val="FF0000"/>
                </a:solidFill>
              </a:rPr>
              <a:t>50.000</a:t>
            </a:r>
            <a:r>
              <a:rPr lang="fr-FR" sz="1000" dirty="0"/>
              <a:t> images chacun </a:t>
            </a:r>
            <a:r>
              <a:rPr lang="fr-FR" dirty="0">
                <a:solidFill>
                  <a:srgbClr val="FF0000"/>
                </a:solidFill>
              </a:rPr>
              <a:t>⩰</a:t>
            </a:r>
            <a:r>
              <a:rPr lang="fr-FR" dirty="0"/>
              <a:t> </a:t>
            </a:r>
            <a:r>
              <a:rPr lang="fr-FR" sz="1000" dirty="0">
                <a:solidFill>
                  <a:srgbClr val="FF0000"/>
                </a:solidFill>
              </a:rPr>
              <a:t>2,1</a:t>
            </a:r>
            <a:r>
              <a:rPr lang="fr-FR" sz="1000" dirty="0"/>
              <a:t> jours de calcul soit </a:t>
            </a:r>
            <a:r>
              <a:rPr lang="fr-FR" dirty="0">
                <a:solidFill>
                  <a:srgbClr val="FF0000"/>
                </a:solidFill>
              </a:rPr>
              <a:t>⩰ </a:t>
            </a:r>
            <a:r>
              <a:rPr lang="fr-FR" sz="1000" dirty="0">
                <a:solidFill>
                  <a:srgbClr val="FF0000"/>
                </a:solidFill>
              </a:rPr>
              <a:t>11 jours</a:t>
            </a:r>
            <a:r>
              <a:rPr lang="fr-FR" sz="1000" dirty="0"/>
              <a:t> </a:t>
            </a:r>
          </a:p>
          <a:p>
            <a:pPr marL="0" indent="0">
              <a:spcAft>
                <a:spcPts val="1200"/>
              </a:spcAft>
              <a:buNone/>
            </a:pPr>
            <a:endParaRPr lang="fr-FR" sz="1000" dirty="0"/>
          </a:p>
          <a:p>
            <a:pPr marL="0" indent="0">
              <a:spcAft>
                <a:spcPts val="1200"/>
              </a:spcAft>
              <a:buNone/>
            </a:pPr>
            <a:endParaRPr lang="fr-FR" sz="1000" dirty="0"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lang="f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790CD9-881E-7E1D-FB29-C3A3DD468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Coût du projet en 30 jours pour 500.000 images: 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134EFA5-807A-6072-C2DD-78D3F5F3B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46050" indent="0">
              <a:buNone/>
            </a:pPr>
            <a:r>
              <a:rPr lang="fr-FR" dirty="0"/>
              <a:t>Equipes : 1 Développeur Data </a:t>
            </a:r>
            <a:r>
              <a:rPr lang="fr-FR" dirty="0" err="1"/>
              <a:t>Scientist</a:t>
            </a:r>
            <a:r>
              <a:rPr lang="fr-FR" dirty="0"/>
              <a:t> confirmé (7 jours/homme) : </a:t>
            </a:r>
            <a:r>
              <a:rPr lang="fr-FR" dirty="0">
                <a:solidFill>
                  <a:srgbClr val="FF0000"/>
                </a:solidFill>
              </a:rPr>
              <a:t>550</a:t>
            </a:r>
            <a:r>
              <a:rPr lang="fr-FR" dirty="0"/>
              <a:t> x 7</a:t>
            </a:r>
          </a:p>
          <a:p>
            <a:pPr marL="146050" indent="0">
              <a:buNone/>
            </a:pPr>
            <a:r>
              <a:rPr lang="fr-FR" dirty="0"/>
              <a:t>                 2 Stagiaire pour la vérification rapide des images </a:t>
            </a:r>
          </a:p>
          <a:p>
            <a:pPr marL="146050" indent="0">
              <a:buNone/>
            </a:pPr>
            <a:endParaRPr lang="fr-FR" dirty="0"/>
          </a:p>
          <a:p>
            <a:pPr marL="146050" indent="0">
              <a:buNone/>
            </a:pPr>
            <a:r>
              <a:rPr lang="fr-FR" dirty="0">
                <a:solidFill>
                  <a:srgbClr val="FF0000"/>
                </a:solidFill>
              </a:rPr>
              <a:t>Solution préconisée </a:t>
            </a:r>
            <a:r>
              <a:rPr lang="fr-FR" dirty="0"/>
              <a:t>: Cluster de 5 ordinateurs pour réduire le temps de calcul et le temps en jours/hommes.</a:t>
            </a:r>
            <a:endParaRPr lang="fr-FR" dirty="0">
              <a:solidFill>
                <a:srgbClr val="FF0000"/>
              </a:solidFill>
            </a:endParaRPr>
          </a:p>
          <a:p>
            <a:pPr marL="146050" indent="0">
              <a:buNone/>
            </a:pPr>
            <a:endParaRPr lang="fr-FR" dirty="0"/>
          </a:p>
          <a:p>
            <a:pPr marL="146050" indent="0">
              <a:buNone/>
            </a:pPr>
            <a:r>
              <a:rPr lang="fr-FR" dirty="0">
                <a:solidFill>
                  <a:srgbClr val="FF0000"/>
                </a:solidFill>
              </a:rPr>
              <a:t>Coût</a:t>
            </a:r>
            <a:r>
              <a:rPr lang="fr-FR" dirty="0"/>
              <a:t>  du projet en 13 jours : </a:t>
            </a:r>
            <a:r>
              <a:rPr lang="fr-FR" sz="1400" dirty="0">
                <a:solidFill>
                  <a:srgbClr val="FF0000"/>
                </a:solidFill>
              </a:rPr>
              <a:t>⩰ 3850€.</a:t>
            </a:r>
          </a:p>
          <a:p>
            <a:pPr marL="146050" indent="0">
              <a:buNone/>
            </a:pPr>
            <a:endParaRPr lang="fr-FR" sz="1400" dirty="0">
              <a:solidFill>
                <a:srgbClr val="FF0000"/>
              </a:solidFill>
            </a:endParaRPr>
          </a:p>
          <a:p>
            <a:pPr marL="146050" indent="0">
              <a:buNone/>
            </a:pPr>
            <a:r>
              <a:rPr lang="fr-FR" sz="1400" dirty="0">
                <a:solidFill>
                  <a:schemeClr val="bg1"/>
                </a:solidFill>
              </a:rPr>
              <a:t>Coût du projet en </a:t>
            </a:r>
            <a:r>
              <a:rPr lang="fr-FR" sz="1400" dirty="0">
                <a:solidFill>
                  <a:srgbClr val="FF0000"/>
                </a:solidFill>
              </a:rPr>
              <a:t>30 jours </a:t>
            </a:r>
            <a:r>
              <a:rPr lang="fr-FR" sz="1400" dirty="0">
                <a:solidFill>
                  <a:schemeClr val="bg1"/>
                </a:solidFill>
              </a:rPr>
              <a:t>avec 1 seul ordinateur : </a:t>
            </a:r>
            <a:r>
              <a:rPr lang="fr-FR" sz="1400" dirty="0">
                <a:solidFill>
                  <a:srgbClr val="FF0000"/>
                </a:solidFill>
              </a:rPr>
              <a:t>⩰</a:t>
            </a:r>
            <a:r>
              <a:rPr lang="fr-FR" sz="1400" dirty="0">
                <a:solidFill>
                  <a:schemeClr val="bg1"/>
                </a:solidFill>
              </a:rPr>
              <a:t> </a:t>
            </a:r>
            <a:r>
              <a:rPr lang="fr-FR" sz="1400" dirty="0">
                <a:solidFill>
                  <a:srgbClr val="FF0000"/>
                </a:solidFill>
              </a:rPr>
              <a:t>11000 €</a:t>
            </a:r>
          </a:p>
          <a:p>
            <a:pPr marL="146050" indent="0">
              <a:buNone/>
            </a:pPr>
            <a:endParaRPr lang="fr-FR" sz="1400" dirty="0">
              <a:solidFill>
                <a:srgbClr val="FF0000"/>
              </a:solidFill>
            </a:endParaRPr>
          </a:p>
          <a:p>
            <a:pPr marL="146050" indent="0">
              <a:buNone/>
            </a:pPr>
            <a:endParaRPr lang="fr-FR" sz="1400" dirty="0">
              <a:solidFill>
                <a:srgbClr val="FF0000"/>
              </a:solidFill>
            </a:endParaRPr>
          </a:p>
          <a:p>
            <a:pPr marL="14605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0055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>
            <a:spLocks noGrp="1"/>
          </p:cNvSpPr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dirty="0"/>
              <a:t>Bilan du projet réalisé</a:t>
            </a:r>
            <a:endParaRPr dirty="0"/>
          </a:p>
        </p:txBody>
      </p:sp>
      <p:sp>
        <p:nvSpPr>
          <p:cNvPr id="177" name="Google Shape;177;p20"/>
          <p:cNvSpPr txBox="1">
            <a:spLocks noGrp="1"/>
          </p:cNvSpPr>
          <p:nvPr>
            <p:ph type="body" idx="1"/>
          </p:nvPr>
        </p:nvSpPr>
        <p:spPr>
          <a:xfrm>
            <a:off x="1297500" y="1249447"/>
            <a:ext cx="7038900" cy="35808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3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500" dirty="0"/>
              <a:t>Résumez  : </a:t>
            </a:r>
            <a:endParaRPr sz="2500"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rgbClr val="FF0000"/>
                </a:solidFill>
              </a:rPr>
              <a:t>Les défis techniques rencontrés : 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chemeClr val="bg1"/>
                </a:solidFill>
              </a:rPr>
              <a:t>Scripting Python (Librairies spéciales, robustesse, Classes d’objets, Affichage en label, Requête API d’un modèle) 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chemeClr val="bg1"/>
                </a:solidFill>
              </a:rPr>
              <a:t>Pertinence de la Méthode d’Evaluation du modèle (</a:t>
            </a:r>
            <a:r>
              <a:rPr lang="fr-FR" sz="2500" dirty="0" err="1">
                <a:solidFill>
                  <a:schemeClr val="bg1"/>
                </a:solidFill>
              </a:rPr>
              <a:t>IoU</a:t>
            </a:r>
            <a:r>
              <a:rPr lang="fr-FR" sz="2500" dirty="0">
                <a:solidFill>
                  <a:schemeClr val="bg1"/>
                </a:solidFill>
              </a:rPr>
              <a:t>, Matrice de confusion…</a:t>
            </a:r>
            <a:r>
              <a:rPr lang="fr-FR" sz="2500" dirty="0" err="1">
                <a:solidFill>
                  <a:schemeClr val="bg1"/>
                </a:solidFill>
              </a:rPr>
              <a:t>etc</a:t>
            </a:r>
            <a:r>
              <a:rPr lang="fr-FR" sz="2500" dirty="0">
                <a:solidFill>
                  <a:schemeClr val="bg1"/>
                </a:solidFill>
              </a:rPr>
              <a:t>) 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rgbClr val="FF0000"/>
                </a:solidFill>
              </a:rPr>
              <a:t>Améliorations : 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 sz="2500" dirty="0"/>
              <a:t>Essayez d’améliorer le modèle, détecter les cravates, les lunettes de soleil accrochées aux chemises, rajouter des classes d’objets. 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 sz="2500" dirty="0"/>
              <a:t>Réduire les faux positifs et faux négatifs.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 sz="2500" dirty="0"/>
              <a:t>Mutualiser les capacités de calcul, cluster de plusieurs PC pour passer à l’échelle et réduire le coût. 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" sz="2500" dirty="0">
                <a:solidFill>
                  <a:srgbClr val="FF0000"/>
                </a:solidFill>
              </a:rPr>
              <a:t>Les applications potentielles pour les clients de ModeTrend</a:t>
            </a:r>
          </a:p>
          <a:p>
            <a:pPr marL="0" lvl="0" indent="0" algn="l" defTabSz="179388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fr-FR" sz="2500" b="1" dirty="0">
                <a:solidFill>
                  <a:schemeClr val="bg1"/>
                </a:solidFill>
              </a:rPr>
              <a:t> Segmentation vestimentaire </a:t>
            </a:r>
            <a:r>
              <a:rPr lang="fr-FR" sz="2500" dirty="0"/>
              <a:t>: être capable d'identifier et d'isoler avec précision chaque pièce vestimentaire dans une image.</a:t>
            </a:r>
          </a:p>
          <a:p>
            <a:pPr marL="0" indent="0" defTabSz="179388">
              <a:buNone/>
            </a:pPr>
            <a:endParaRPr lang="fr-FR" sz="2500" b="1" dirty="0">
              <a:solidFill>
                <a:srgbClr val="FF0000"/>
              </a:solidFill>
            </a:endParaRPr>
          </a:p>
          <a:p>
            <a:pPr marL="0" indent="0" defTabSz="179388">
              <a:buNone/>
            </a:pPr>
            <a:r>
              <a:rPr lang="fr-FR" sz="2500" b="1" dirty="0">
                <a:solidFill>
                  <a:schemeClr val="bg1"/>
                </a:solidFill>
              </a:rPr>
              <a:t>Analyse stylistique </a:t>
            </a:r>
            <a:r>
              <a:rPr lang="fr-FR" sz="2500" dirty="0">
                <a:solidFill>
                  <a:schemeClr val="bg1"/>
                </a:solidFill>
              </a:rPr>
              <a:t>: </a:t>
            </a:r>
            <a:r>
              <a:rPr lang="fr-FR" sz="2500" dirty="0"/>
              <a:t>être capable de classifier les pièces selon leur nature, couleur, texture et style.</a:t>
            </a:r>
          </a:p>
          <a:p>
            <a:pPr marL="0" indent="0" defTabSz="179388">
              <a:buNone/>
            </a:pPr>
            <a:endParaRPr lang="fr-FR" sz="2500" dirty="0"/>
          </a:p>
          <a:p>
            <a:pPr marL="0" indent="0" defTabSz="179388">
              <a:buNone/>
            </a:pPr>
            <a:r>
              <a:rPr lang="fr-FR" sz="2500" b="1" dirty="0">
                <a:solidFill>
                  <a:schemeClr val="bg1"/>
                </a:solidFill>
              </a:rPr>
              <a:t>Agrégation de tendances </a:t>
            </a:r>
            <a:r>
              <a:rPr lang="fr-FR" sz="2500" dirty="0">
                <a:solidFill>
                  <a:schemeClr val="bg1"/>
                </a:solidFill>
              </a:rPr>
              <a:t>: </a:t>
            </a:r>
            <a:r>
              <a:rPr lang="fr-FR" sz="2500" dirty="0"/>
              <a:t>être capable de compiler ces données sur des milliers de publications pour identifier les tendances émergentes.</a:t>
            </a: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rgbClr val="FF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894</Words>
  <Application>Microsoft Office PowerPoint</Application>
  <PresentationFormat>Affichage à l'écran (16:9)</PresentationFormat>
  <Paragraphs>160</Paragraphs>
  <Slides>9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5" baseType="lpstr">
      <vt:lpstr>Calibri</vt:lpstr>
      <vt:lpstr>Montserrat</vt:lpstr>
      <vt:lpstr>Arial</vt:lpstr>
      <vt:lpstr>Inter</vt:lpstr>
      <vt:lpstr>Lato</vt:lpstr>
      <vt:lpstr>Focus</vt:lpstr>
      <vt:lpstr>Fashion Trend Intelligence</vt:lpstr>
      <vt:lpstr>Présentation du projet</vt:lpstr>
      <vt:lpstr>Fonctionnement de Segformer</vt:lpstr>
      <vt:lpstr>Performances du modèle sur les 50 images </vt:lpstr>
      <vt:lpstr>Proposition d’une méthode de validation du modèle</vt:lpstr>
      <vt:lpstr>IoU Résultats sur 50 images</vt:lpstr>
      <vt:lpstr>Passage à l’échelle</vt:lpstr>
      <vt:lpstr>Coût du projet en 30 jours pour 500.000 images: </vt:lpstr>
      <vt:lpstr>Bilan du projet réalisé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johnd</dc:creator>
  <cp:lastModifiedBy>Jonathan Desurmont</cp:lastModifiedBy>
  <cp:revision>3</cp:revision>
  <dcterms:modified xsi:type="dcterms:W3CDTF">2026-04-03T15:35:54Z</dcterms:modified>
</cp:coreProperties>
</file>