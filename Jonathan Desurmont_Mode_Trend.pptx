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9144000" cy="5143500" type="screen16x9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78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c90baff6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c90baff6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90baff6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90baff6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c90baff6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c90baff6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c90baff60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c90baff60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c90baff60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c90baff60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fcf60ab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fcf60ab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308750" y="4871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Fashion Trend Intelligence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6344450" y="3891100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Desurmont Jonathan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Présentation du projet</a:t>
            </a: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499" y="1567550"/>
            <a:ext cx="7234659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Réalisation d’un </a:t>
            </a:r>
            <a:r>
              <a:rPr lang="fr-FR" dirty="0">
                <a:solidFill>
                  <a:srgbClr val="FF0000"/>
                </a:solidFill>
              </a:rPr>
              <a:t>script</a:t>
            </a:r>
            <a:r>
              <a:rPr lang="fr-FR" dirty="0"/>
              <a:t> en </a:t>
            </a:r>
            <a:r>
              <a:rPr lang="fr-FR" dirty="0">
                <a:solidFill>
                  <a:srgbClr val="FF0000"/>
                </a:solidFill>
              </a:rPr>
              <a:t>python</a:t>
            </a:r>
            <a:r>
              <a:rPr lang="fr-FR" dirty="0"/>
              <a:t> pour interroger un </a:t>
            </a:r>
            <a:r>
              <a:rPr lang="fr-FR" dirty="0">
                <a:solidFill>
                  <a:srgbClr val="FF0000"/>
                </a:solidFill>
              </a:rPr>
              <a:t>modèle </a:t>
            </a:r>
            <a:r>
              <a:rPr lang="fr-FR" dirty="0" err="1">
                <a:solidFill>
                  <a:srgbClr val="FF0000"/>
                </a:solidFill>
              </a:rPr>
              <a:t>segformer</a:t>
            </a:r>
            <a:r>
              <a:rPr lang="fr-FR" dirty="0"/>
              <a:t> en licence libre via une </a:t>
            </a:r>
            <a:r>
              <a:rPr lang="fr-FR" dirty="0">
                <a:solidFill>
                  <a:srgbClr val="FF0000"/>
                </a:solidFill>
              </a:rPr>
              <a:t>clé API </a:t>
            </a:r>
            <a:r>
              <a:rPr lang="fr-FR" dirty="0"/>
              <a:t>pour :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	Une </a:t>
            </a:r>
            <a:r>
              <a:rPr lang="fr-FR" dirty="0">
                <a:solidFill>
                  <a:srgbClr val="FF0000"/>
                </a:solidFill>
              </a:rPr>
              <a:t>Segmentation</a:t>
            </a:r>
            <a:r>
              <a:rPr lang="fr-FR" dirty="0"/>
              <a:t> d’image de tenues vestimentaires des principaux influenceurs.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	Une </a:t>
            </a:r>
            <a:r>
              <a:rPr lang="fr-FR" dirty="0">
                <a:solidFill>
                  <a:srgbClr val="FF0000"/>
                </a:solidFill>
              </a:rPr>
              <a:t>Analyse</a:t>
            </a:r>
            <a:r>
              <a:rPr lang="fr-FR" dirty="0"/>
              <a:t> sur </a:t>
            </a:r>
            <a:r>
              <a:rPr lang="fr-FR" dirty="0">
                <a:solidFill>
                  <a:srgbClr val="FF0000"/>
                </a:solidFill>
              </a:rPr>
              <a:t>50 images </a:t>
            </a:r>
            <a:r>
              <a:rPr lang="fr-FR" dirty="0"/>
              <a:t>avec </a:t>
            </a:r>
            <a:r>
              <a:rPr lang="fr-FR" dirty="0">
                <a:solidFill>
                  <a:srgbClr val="FF0000"/>
                </a:solidFill>
              </a:rPr>
              <a:t>différents trends </a:t>
            </a:r>
            <a:r>
              <a:rPr lang="fr-FR" dirty="0"/>
              <a:t>et accessoires de mode.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	Une </a:t>
            </a:r>
            <a:r>
              <a:rPr lang="fr-FR" dirty="0">
                <a:solidFill>
                  <a:schemeClr val="bg1"/>
                </a:solidFill>
              </a:rPr>
              <a:t>évaluation</a:t>
            </a:r>
            <a:r>
              <a:rPr lang="fr-FR" dirty="0">
                <a:solidFill>
                  <a:srgbClr val="FF0000"/>
                </a:solidFill>
              </a:rPr>
              <a:t> qualitative </a:t>
            </a:r>
            <a:r>
              <a:rPr lang="fr-FR" dirty="0"/>
              <a:t>de la viabilité du modèle.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	Une </a:t>
            </a:r>
            <a:r>
              <a:rPr lang="fr-FR" dirty="0">
                <a:solidFill>
                  <a:srgbClr val="FF0000"/>
                </a:solidFill>
              </a:rPr>
              <a:t>estimation</a:t>
            </a:r>
            <a:r>
              <a:rPr lang="fr-FR" dirty="0"/>
              <a:t> pour une </a:t>
            </a:r>
            <a:r>
              <a:rPr lang="fr-FR" dirty="0">
                <a:solidFill>
                  <a:srgbClr val="FF0000"/>
                </a:solidFill>
              </a:rPr>
              <a:t>montée en charge </a:t>
            </a:r>
            <a:r>
              <a:rPr lang="fr-FR" dirty="0"/>
              <a:t>sur 500.000 photos.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 	Une estimation du </a:t>
            </a:r>
            <a:r>
              <a:rPr lang="fr-FR" dirty="0">
                <a:solidFill>
                  <a:srgbClr val="FF0000"/>
                </a:solidFill>
              </a:rPr>
              <a:t>coût</a:t>
            </a:r>
            <a:r>
              <a:rPr lang="fr-FR" dirty="0"/>
              <a:t> en jours/homme.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Fonctionnement de Segformer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946854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>
                <a:solidFill>
                  <a:srgbClr val="FF0000"/>
                </a:solidFill>
              </a:rPr>
              <a:t>Modèle</a:t>
            </a:r>
            <a:r>
              <a:rPr lang="fr-FR" dirty="0"/>
              <a:t> en accès libre sur </a:t>
            </a:r>
            <a:r>
              <a:rPr lang="fr-FR" dirty="0" err="1">
                <a:solidFill>
                  <a:srgbClr val="FF0000"/>
                </a:solidFill>
              </a:rPr>
              <a:t>Hugging</a:t>
            </a:r>
            <a:r>
              <a:rPr lang="fr-FR" dirty="0">
                <a:solidFill>
                  <a:srgbClr val="FF0000"/>
                </a:solidFill>
              </a:rPr>
              <a:t> Face </a:t>
            </a:r>
            <a:r>
              <a:rPr lang="fr-FR" dirty="0"/>
              <a:t>via </a:t>
            </a:r>
            <a:r>
              <a:rPr lang="fr-FR" dirty="0">
                <a:solidFill>
                  <a:srgbClr val="FF0000"/>
                </a:solidFill>
              </a:rPr>
              <a:t>licence MIT </a:t>
            </a:r>
            <a:r>
              <a:rPr lang="fr-FR" dirty="0"/>
              <a:t>grâce à un simple </a:t>
            </a:r>
            <a:r>
              <a:rPr lang="fr-FR" dirty="0" err="1">
                <a:solidFill>
                  <a:srgbClr val="FF0000"/>
                </a:solidFill>
              </a:rPr>
              <a:t>token</a:t>
            </a:r>
            <a:r>
              <a:rPr lang="fr-FR" dirty="0">
                <a:solidFill>
                  <a:srgbClr val="FF0000"/>
                </a:solidFill>
              </a:rPr>
              <a:t> gratuit (clé API).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Nécessite une </a:t>
            </a:r>
            <a:r>
              <a:rPr lang="fr-FR" dirty="0">
                <a:solidFill>
                  <a:srgbClr val="FF0000"/>
                </a:solidFill>
              </a:rPr>
              <a:t>Image réelle </a:t>
            </a:r>
            <a:r>
              <a:rPr lang="fr-FR" dirty="0"/>
              <a:t>de mode en </a:t>
            </a:r>
            <a:r>
              <a:rPr lang="fr-FR" dirty="0">
                <a:solidFill>
                  <a:srgbClr val="FF0000"/>
                </a:solidFill>
              </a:rPr>
              <a:t>600x400</a:t>
            </a:r>
            <a:r>
              <a:rPr lang="fr-FR" dirty="0"/>
              <a:t> au format .jpeg, .jpg, .png, .</a:t>
            </a:r>
            <a:r>
              <a:rPr lang="fr-FR" dirty="0" err="1"/>
              <a:t>webp</a:t>
            </a:r>
            <a:r>
              <a:rPr lang="fr-FR" dirty="0"/>
              <a:t>,  avec les </a:t>
            </a:r>
            <a:r>
              <a:rPr lang="fr-FR" dirty="0">
                <a:solidFill>
                  <a:srgbClr val="FF0000"/>
                </a:solidFill>
              </a:rPr>
              <a:t>masques</a:t>
            </a:r>
            <a:r>
              <a:rPr lang="fr-FR" dirty="0"/>
              <a:t> associés pour chaque image.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Le script </a:t>
            </a:r>
            <a:r>
              <a:rPr lang="fr-FR" dirty="0">
                <a:solidFill>
                  <a:srgbClr val="FF0000"/>
                </a:solidFill>
              </a:rPr>
              <a:t>python</a:t>
            </a:r>
            <a:r>
              <a:rPr lang="fr-FR" dirty="0"/>
              <a:t> installé sur l’ordinateur fournit les images au </a:t>
            </a:r>
            <a:r>
              <a:rPr lang="fr-FR" dirty="0">
                <a:solidFill>
                  <a:srgbClr val="FF0000"/>
                </a:solidFill>
              </a:rPr>
              <a:t>modèle</a:t>
            </a:r>
            <a:r>
              <a:rPr lang="fr-FR" dirty="0"/>
              <a:t> (rangées dans un dossier cible) en </a:t>
            </a:r>
            <a:r>
              <a:rPr lang="fr-FR" dirty="0">
                <a:solidFill>
                  <a:srgbClr val="FF0000"/>
                </a:solidFill>
              </a:rPr>
              <a:t>entrée</a:t>
            </a:r>
            <a:r>
              <a:rPr lang="fr-FR" dirty="0"/>
              <a:t> qui les segmente selon </a:t>
            </a:r>
            <a:r>
              <a:rPr lang="fr-FR" dirty="0">
                <a:solidFill>
                  <a:srgbClr val="FF0000"/>
                </a:solidFill>
              </a:rPr>
              <a:t>17 classes d’objets </a:t>
            </a:r>
            <a:r>
              <a:rPr lang="fr-FR" dirty="0"/>
              <a:t>définis implicitement par le modèle (jupe, haut, robe, écharpe, visage, bras gauche, ceinture...)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En sortie, 3 images :  </a:t>
            </a:r>
            <a:r>
              <a:rPr lang="fr-FR" dirty="0">
                <a:solidFill>
                  <a:srgbClr val="FF0000"/>
                </a:solidFill>
              </a:rPr>
              <a:t>l’image réelle </a:t>
            </a:r>
            <a:r>
              <a:rPr lang="fr-FR" dirty="0"/>
              <a:t>comparée à </a:t>
            </a:r>
            <a:r>
              <a:rPr lang="fr-FR" dirty="0">
                <a:solidFill>
                  <a:srgbClr val="FF0000"/>
                </a:solidFill>
              </a:rPr>
              <a:t>l’image masquée </a:t>
            </a:r>
            <a:r>
              <a:rPr lang="fr-FR" dirty="0"/>
              <a:t>colorée grossièrement résultat de l’entrainement, et enfin </a:t>
            </a:r>
            <a:r>
              <a:rPr lang="fr-FR" dirty="0">
                <a:solidFill>
                  <a:srgbClr val="FF0000"/>
                </a:solidFill>
              </a:rPr>
              <a:t>l’image segmentée et prédite </a:t>
            </a:r>
            <a:r>
              <a:rPr lang="fr-FR" dirty="0"/>
              <a:t>(couleurs de classes d’objets appliquées). Dans notre configuration 2 séries d’images de 3 images dans une fenêtre pour comparaison.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 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31063E2-256F-FFEF-5DEF-F8F7398EB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867" y="3432623"/>
            <a:ext cx="3108266" cy="15280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Performances du modèle sur les 50 images </a:t>
            </a:r>
            <a:endParaRPr dirty="0"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170921"/>
            <a:ext cx="7038900" cy="3394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/>
              <a:t>Performances avancées par le concepteur du modèle :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/>
              <a:t>	Précision moyenne </a:t>
            </a:r>
            <a:r>
              <a:rPr lang="fr-FR" sz="4000" dirty="0">
                <a:solidFill>
                  <a:srgbClr val="FF0000"/>
                </a:solidFill>
              </a:rPr>
              <a:t>80 %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/>
              <a:t>	</a:t>
            </a:r>
            <a:r>
              <a:rPr lang="fr-FR" sz="4000" dirty="0" err="1"/>
              <a:t>IoU</a:t>
            </a:r>
            <a:r>
              <a:rPr lang="fr-FR" sz="4000" dirty="0"/>
              <a:t> moyen (Intersection over Union) </a:t>
            </a:r>
            <a:r>
              <a:rPr lang="fr-FR" sz="4000" dirty="0">
                <a:solidFill>
                  <a:srgbClr val="FF0000"/>
                </a:solidFill>
              </a:rPr>
              <a:t>69 % </a:t>
            </a:r>
            <a:endParaRPr lang="fr-FR" sz="400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/>
              <a:t>Performances constatées sur </a:t>
            </a:r>
            <a:r>
              <a:rPr lang="fr-FR" sz="4000" dirty="0">
                <a:solidFill>
                  <a:srgbClr val="FF0000"/>
                </a:solidFill>
              </a:rPr>
              <a:t>50</a:t>
            </a:r>
            <a:r>
              <a:rPr lang="fr-FR" sz="4000" dirty="0"/>
              <a:t> images :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/>
              <a:t> 	</a:t>
            </a:r>
            <a:r>
              <a:rPr lang="fr-FR" sz="4000" dirty="0">
                <a:solidFill>
                  <a:srgbClr val="FF0000"/>
                </a:solidFill>
              </a:rPr>
              <a:t>45/50 </a:t>
            </a:r>
            <a:r>
              <a:rPr lang="fr-FR" sz="4000" dirty="0"/>
              <a:t>images segmentées de manière viable soit une précision moyenne de </a:t>
            </a:r>
            <a:r>
              <a:rPr lang="fr-FR" sz="4000" dirty="0">
                <a:solidFill>
                  <a:srgbClr val="FF0000"/>
                </a:solidFill>
              </a:rPr>
              <a:t>90 %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>
                <a:solidFill>
                  <a:srgbClr val="FF0000"/>
                </a:solidFill>
              </a:rPr>
              <a:t>	</a:t>
            </a:r>
            <a:r>
              <a:rPr lang="fr-FR" sz="4000" dirty="0">
                <a:solidFill>
                  <a:schemeClr val="bg1"/>
                </a:solidFill>
              </a:rPr>
              <a:t>Erreurs rencontrées sur </a:t>
            </a:r>
            <a:r>
              <a:rPr lang="fr-FR" sz="4000" dirty="0">
                <a:solidFill>
                  <a:srgbClr val="FF0000"/>
                </a:solidFill>
              </a:rPr>
              <a:t>typologie d’images </a:t>
            </a:r>
            <a:r>
              <a:rPr lang="fr-FR" sz="4000" dirty="0">
                <a:solidFill>
                  <a:schemeClr val="bg1"/>
                </a:solidFill>
              </a:rPr>
              <a:t>vestimentaires complexes ou </a:t>
            </a:r>
            <a:r>
              <a:rPr lang="fr-FR" sz="4000" dirty="0">
                <a:solidFill>
                  <a:srgbClr val="FF0000"/>
                </a:solidFill>
              </a:rPr>
              <a:t>non explicites </a:t>
            </a:r>
            <a:r>
              <a:rPr lang="fr-FR" sz="4000" dirty="0">
                <a:solidFill>
                  <a:schemeClr val="bg1"/>
                </a:solidFill>
              </a:rPr>
              <a:t>	</a:t>
            </a:r>
          </a:p>
          <a:p>
            <a:pPr marL="1165225" lvl="0" indent="-446088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>
                <a:solidFill>
                  <a:schemeClr val="bg1"/>
                </a:solidFill>
              </a:rPr>
              <a:t>	   </a:t>
            </a:r>
            <a:r>
              <a:rPr lang="fr-FR" sz="4000" dirty="0">
                <a:solidFill>
                  <a:srgbClr val="FF0000"/>
                </a:solidFill>
              </a:rPr>
              <a:t>Ceintures</a:t>
            </a:r>
            <a:r>
              <a:rPr lang="fr-FR" sz="4000" dirty="0">
                <a:solidFill>
                  <a:schemeClr val="bg1"/>
                </a:solidFill>
              </a:rPr>
              <a:t> non détectées (petite quantité de </a:t>
            </a:r>
            <a:r>
              <a:rPr lang="fr-FR" sz="4000" dirty="0">
                <a:solidFill>
                  <a:srgbClr val="FF0000"/>
                </a:solidFill>
              </a:rPr>
              <a:t>pixels</a:t>
            </a:r>
            <a:r>
              <a:rPr lang="fr-FR" sz="4000" dirty="0">
                <a:solidFill>
                  <a:schemeClr val="bg1"/>
                </a:solidFill>
              </a:rPr>
              <a:t>)</a:t>
            </a:r>
          </a:p>
          <a:p>
            <a:pPr marL="1255713" lvl="0" indent="-1255713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>
                <a:solidFill>
                  <a:schemeClr val="bg1"/>
                </a:solidFill>
              </a:rPr>
              <a:t>	</a:t>
            </a:r>
            <a:r>
              <a:rPr lang="fr-FR" sz="4000" dirty="0">
                <a:solidFill>
                  <a:srgbClr val="FF0000"/>
                </a:solidFill>
              </a:rPr>
              <a:t>Lunettes</a:t>
            </a:r>
            <a:r>
              <a:rPr lang="fr-FR" sz="4000" dirty="0">
                <a:solidFill>
                  <a:schemeClr val="bg1"/>
                </a:solidFill>
              </a:rPr>
              <a:t> </a:t>
            </a:r>
            <a:r>
              <a:rPr lang="fr-FR" sz="4000" dirty="0">
                <a:solidFill>
                  <a:srgbClr val="FF0000"/>
                </a:solidFill>
              </a:rPr>
              <a:t>normales</a:t>
            </a:r>
            <a:r>
              <a:rPr lang="fr-FR" sz="4000" dirty="0">
                <a:solidFill>
                  <a:schemeClr val="bg1"/>
                </a:solidFill>
              </a:rPr>
              <a:t> détectées comme </a:t>
            </a:r>
            <a:r>
              <a:rPr lang="fr-FR" sz="4000" dirty="0">
                <a:solidFill>
                  <a:srgbClr val="FF0000"/>
                </a:solidFill>
              </a:rPr>
              <a:t>lunettes de soleil</a:t>
            </a:r>
          </a:p>
          <a:p>
            <a:pPr marL="1255713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>
                <a:solidFill>
                  <a:srgbClr val="FF0000"/>
                </a:solidFill>
              </a:rPr>
              <a:t>Jupe</a:t>
            </a:r>
            <a:r>
              <a:rPr lang="fr-FR" sz="4000" dirty="0">
                <a:solidFill>
                  <a:schemeClr val="bg1"/>
                </a:solidFill>
              </a:rPr>
              <a:t> non différenciée du </a:t>
            </a:r>
            <a:r>
              <a:rPr lang="fr-FR" sz="4000" dirty="0">
                <a:solidFill>
                  <a:srgbClr val="FF0000"/>
                </a:solidFill>
              </a:rPr>
              <a:t>pantalon</a:t>
            </a:r>
            <a:r>
              <a:rPr lang="fr-FR" sz="4000" dirty="0">
                <a:solidFill>
                  <a:schemeClr val="bg1"/>
                </a:solidFill>
              </a:rPr>
              <a:t> ou du </a:t>
            </a:r>
            <a:r>
              <a:rPr lang="fr-FR" sz="4000" dirty="0">
                <a:solidFill>
                  <a:srgbClr val="FF0000"/>
                </a:solidFill>
              </a:rPr>
              <a:t>haut</a:t>
            </a:r>
          </a:p>
          <a:p>
            <a:pPr marL="1255713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>
                <a:solidFill>
                  <a:srgbClr val="FF0000"/>
                </a:solidFill>
              </a:rPr>
              <a:t>Sac</a:t>
            </a:r>
            <a:r>
              <a:rPr lang="fr-FR" sz="4000" dirty="0">
                <a:solidFill>
                  <a:schemeClr val="bg1"/>
                </a:solidFill>
              </a:rPr>
              <a:t> détecté sur le même code couleur que </a:t>
            </a:r>
            <a:r>
              <a:rPr lang="fr-FR" sz="4000" dirty="0">
                <a:solidFill>
                  <a:srgbClr val="FF0000"/>
                </a:solidFill>
              </a:rPr>
              <a:t>chaussure</a:t>
            </a:r>
            <a:r>
              <a:rPr lang="fr-FR" sz="4000" dirty="0">
                <a:solidFill>
                  <a:schemeClr val="bg1"/>
                </a:solidFill>
              </a:rPr>
              <a:t> </a:t>
            </a:r>
          </a:p>
          <a:p>
            <a:pPr marL="1255713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>
                <a:solidFill>
                  <a:srgbClr val="FF0000"/>
                </a:solidFill>
              </a:rPr>
              <a:t>Chaussure</a:t>
            </a:r>
            <a:r>
              <a:rPr lang="fr-FR" sz="4000" dirty="0">
                <a:solidFill>
                  <a:schemeClr val="bg1"/>
                </a:solidFill>
              </a:rPr>
              <a:t> gauche et droite mal différenciées, réunification dans </a:t>
            </a:r>
            <a:r>
              <a:rPr lang="fr-FR" sz="4000" dirty="0">
                <a:solidFill>
                  <a:srgbClr val="FF0000"/>
                </a:solidFill>
              </a:rPr>
              <a:t>une seule classe chaussures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7200" dirty="0">
                <a:solidFill>
                  <a:schemeClr val="bg1"/>
                </a:solidFill>
              </a:rPr>
              <a:t>Conclusion statistique : chiffres du concepteur fiables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fr-FR" sz="400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4000" dirty="0">
                <a:solidFill>
                  <a:srgbClr val="FF0000"/>
                </a:solidFill>
              </a:rPr>
              <a:t>		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	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Proposition d’une méthode de validation du modèle</a:t>
            </a:r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La méthode la plus idéale comme avancée par le concepteur du modèle est la méthode </a:t>
            </a:r>
            <a:r>
              <a:rPr lang="fr-FR" dirty="0" err="1"/>
              <a:t>IoU</a:t>
            </a:r>
            <a:r>
              <a:rPr lang="fr-FR" dirty="0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>
                <a:solidFill>
                  <a:srgbClr val="FF0000"/>
                </a:solidFill>
              </a:rPr>
              <a:t>Intersection over Union :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Pixel pour chaque </a:t>
            </a:r>
            <a:r>
              <a:rPr lang="fr-FR" dirty="0">
                <a:solidFill>
                  <a:srgbClr val="FF0000"/>
                </a:solidFill>
              </a:rPr>
              <a:t>classe</a:t>
            </a:r>
            <a:r>
              <a:rPr lang="fr-FR" dirty="0"/>
              <a:t> d’objet prédit par le modèle  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/>
              <a:t>TP = </a:t>
            </a:r>
            <a:r>
              <a:rPr lang="fr-FR" dirty="0">
                <a:solidFill>
                  <a:srgbClr val="FF0000"/>
                </a:solidFill>
              </a:rPr>
              <a:t>Vrai</a:t>
            </a:r>
            <a:r>
              <a:rPr lang="fr-FR" dirty="0"/>
              <a:t> </a:t>
            </a:r>
            <a:r>
              <a:rPr lang="fr-FR" dirty="0">
                <a:solidFill>
                  <a:srgbClr val="FF0000"/>
                </a:solidFill>
              </a:rPr>
              <a:t>positif</a:t>
            </a:r>
            <a:r>
              <a:rPr lang="fr-FR" dirty="0"/>
              <a:t>,  FP = </a:t>
            </a:r>
            <a:r>
              <a:rPr lang="fr-FR" dirty="0">
                <a:solidFill>
                  <a:srgbClr val="FF0000"/>
                </a:solidFill>
              </a:rPr>
              <a:t>Faux positif</a:t>
            </a:r>
            <a:r>
              <a:rPr lang="fr-FR" dirty="0"/>
              <a:t>, FN = </a:t>
            </a:r>
            <a:r>
              <a:rPr lang="fr-FR" dirty="0">
                <a:solidFill>
                  <a:srgbClr val="FF0000"/>
                </a:solidFill>
              </a:rPr>
              <a:t>Faux négatif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FR" dirty="0" err="1">
                <a:solidFill>
                  <a:srgbClr val="FF0000"/>
                </a:solidFill>
              </a:rPr>
              <a:t>IoU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/>
              <a:t>Moyen :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7DBAD5E-8C38-77C7-0372-9B2CC0752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328" y="2603991"/>
            <a:ext cx="2619741" cy="83831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1838853-32AA-43AA-6657-CAC498803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434" y="3659486"/>
            <a:ext cx="2238687" cy="8192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Passage à l’échelle</a:t>
            </a:r>
            <a:endParaRPr dirty="0"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5228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fr" sz="1000" dirty="0"/>
              <a:t>Constaté : 50 images </a:t>
            </a:r>
            <a:r>
              <a:rPr lang="fr-FR" sz="1000" dirty="0">
                <a:solidFill>
                  <a:srgbClr val="FF0000"/>
                </a:solidFill>
              </a:rPr>
              <a:t>⩰</a:t>
            </a:r>
            <a:r>
              <a:rPr lang="fr-FR" sz="1000" dirty="0"/>
              <a:t> </a:t>
            </a:r>
            <a:r>
              <a:rPr lang="fr-FR" sz="1000" dirty="0">
                <a:solidFill>
                  <a:srgbClr val="FF0000"/>
                </a:solidFill>
              </a:rPr>
              <a:t>180</a:t>
            </a:r>
            <a:r>
              <a:rPr lang="fr-FR" sz="1000" dirty="0"/>
              <a:t> secondes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fr-FR" sz="1000" dirty="0">
                <a:solidFill>
                  <a:srgbClr val="FF0000"/>
                </a:solidFill>
              </a:rPr>
              <a:t>Prédiction chiffrée :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fr-FR" sz="1000" dirty="0"/>
              <a:t>500.000 images sur </a:t>
            </a:r>
            <a:r>
              <a:rPr lang="fr-FR" sz="1000" dirty="0">
                <a:solidFill>
                  <a:srgbClr val="FF0000"/>
                </a:solidFill>
              </a:rPr>
              <a:t>1</a:t>
            </a:r>
            <a:r>
              <a:rPr lang="fr-FR" sz="1000" dirty="0"/>
              <a:t> ordinateur : </a:t>
            </a:r>
            <a:r>
              <a:rPr lang="fr-FR" sz="1000" dirty="0">
                <a:solidFill>
                  <a:srgbClr val="FF0000"/>
                </a:solidFill>
              </a:rPr>
              <a:t>⩰</a:t>
            </a:r>
            <a:r>
              <a:rPr lang="fr-FR" sz="1000" dirty="0"/>
              <a:t> </a:t>
            </a:r>
            <a:r>
              <a:rPr lang="fr-FR" sz="1000" dirty="0">
                <a:solidFill>
                  <a:srgbClr val="FF0000"/>
                </a:solidFill>
              </a:rPr>
              <a:t>21</a:t>
            </a:r>
            <a:r>
              <a:rPr lang="fr-FR" sz="1000" dirty="0"/>
              <a:t> jours de calcul et </a:t>
            </a:r>
            <a:r>
              <a:rPr lang="fr-FR" sz="1000" dirty="0">
                <a:solidFill>
                  <a:srgbClr val="FF0000"/>
                </a:solidFill>
              </a:rPr>
              <a:t>9</a:t>
            </a:r>
            <a:r>
              <a:rPr lang="fr-FR" sz="1000" dirty="0"/>
              <a:t> jours pour une vérification rapide des images segmentée.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fr-FR" sz="1000" dirty="0"/>
              <a:t>Conclusion en </a:t>
            </a:r>
            <a:r>
              <a:rPr lang="fr-FR" sz="1000" dirty="0">
                <a:solidFill>
                  <a:srgbClr val="FF0000"/>
                </a:solidFill>
              </a:rPr>
              <a:t>30</a:t>
            </a:r>
            <a:r>
              <a:rPr lang="fr-FR" sz="1000" dirty="0"/>
              <a:t> jours : Risque de plantage… peu fiable.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fr-FR" sz="1000" dirty="0"/>
              <a:t>Cluster de </a:t>
            </a:r>
            <a:r>
              <a:rPr lang="fr-FR" sz="1000" dirty="0">
                <a:solidFill>
                  <a:srgbClr val="FF0000"/>
                </a:solidFill>
              </a:rPr>
              <a:t>5</a:t>
            </a:r>
            <a:r>
              <a:rPr lang="fr-FR" sz="1000" dirty="0"/>
              <a:t> ordinateurs qui traitent un jeu de </a:t>
            </a:r>
            <a:r>
              <a:rPr lang="fr-FR" sz="1000" dirty="0">
                <a:solidFill>
                  <a:srgbClr val="FF0000"/>
                </a:solidFill>
              </a:rPr>
              <a:t>100.000 images </a:t>
            </a:r>
            <a:r>
              <a:rPr lang="fr-FR" sz="1000" dirty="0"/>
              <a:t>simultanément </a:t>
            </a:r>
            <a:r>
              <a:rPr lang="fr-FR" sz="1000" dirty="0">
                <a:solidFill>
                  <a:srgbClr val="FF0000"/>
                </a:solidFill>
              </a:rPr>
              <a:t>⩰</a:t>
            </a:r>
            <a:r>
              <a:rPr lang="fr-FR" sz="1000" dirty="0"/>
              <a:t> </a:t>
            </a:r>
            <a:r>
              <a:rPr lang="fr-FR" sz="1000" dirty="0">
                <a:solidFill>
                  <a:srgbClr val="FF0000"/>
                </a:solidFill>
              </a:rPr>
              <a:t>4,5 jours </a:t>
            </a:r>
            <a:r>
              <a:rPr lang="fr-FR" sz="1000" dirty="0"/>
              <a:t>de calcul soit </a:t>
            </a:r>
            <a:r>
              <a:rPr lang="fr-FR" sz="1000" dirty="0">
                <a:solidFill>
                  <a:srgbClr val="FF0000"/>
                </a:solidFill>
              </a:rPr>
              <a:t>13,5</a:t>
            </a:r>
            <a:r>
              <a:rPr lang="fr-FR" sz="1000" dirty="0"/>
              <a:t> jours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fr-FR" sz="1000" dirty="0"/>
              <a:t>Conclusion : plus fiable.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fr-FR" sz="1000" dirty="0"/>
              <a:t>Cluster de </a:t>
            </a:r>
            <a:r>
              <a:rPr lang="fr-FR" sz="1000" dirty="0">
                <a:solidFill>
                  <a:srgbClr val="FF0000"/>
                </a:solidFill>
              </a:rPr>
              <a:t>10</a:t>
            </a:r>
            <a:r>
              <a:rPr lang="fr-FR" sz="1000" dirty="0"/>
              <a:t> ordinateurs qui traitent </a:t>
            </a:r>
            <a:r>
              <a:rPr lang="fr-FR" sz="1000" dirty="0">
                <a:solidFill>
                  <a:srgbClr val="FF0000"/>
                </a:solidFill>
              </a:rPr>
              <a:t>50.000</a:t>
            </a:r>
            <a:r>
              <a:rPr lang="fr-FR" sz="1000" dirty="0"/>
              <a:t> images chacun </a:t>
            </a:r>
            <a:r>
              <a:rPr lang="fr-FR" dirty="0">
                <a:solidFill>
                  <a:srgbClr val="FF0000"/>
                </a:solidFill>
              </a:rPr>
              <a:t>⩰</a:t>
            </a:r>
            <a:r>
              <a:rPr lang="fr-FR" dirty="0"/>
              <a:t> </a:t>
            </a:r>
            <a:r>
              <a:rPr lang="fr-FR" sz="1000" dirty="0">
                <a:solidFill>
                  <a:srgbClr val="FF0000"/>
                </a:solidFill>
              </a:rPr>
              <a:t>2,1</a:t>
            </a:r>
            <a:r>
              <a:rPr lang="fr-FR" sz="1000" dirty="0"/>
              <a:t> jours de calcul soit </a:t>
            </a:r>
            <a:r>
              <a:rPr lang="fr-FR" dirty="0">
                <a:solidFill>
                  <a:srgbClr val="FF0000"/>
                </a:solidFill>
              </a:rPr>
              <a:t>⩰ </a:t>
            </a:r>
            <a:r>
              <a:rPr lang="fr-FR" sz="1000" dirty="0">
                <a:solidFill>
                  <a:srgbClr val="FF0000"/>
                </a:solidFill>
              </a:rPr>
              <a:t>11 jours</a:t>
            </a:r>
            <a:r>
              <a:rPr lang="fr-FR" sz="1000" dirty="0"/>
              <a:t> </a:t>
            </a:r>
          </a:p>
          <a:p>
            <a:pPr marL="0" indent="0">
              <a:spcAft>
                <a:spcPts val="1200"/>
              </a:spcAft>
              <a:buNone/>
            </a:pPr>
            <a:endParaRPr lang="fr-FR" sz="1000" dirty="0"/>
          </a:p>
          <a:p>
            <a:pPr marL="0" indent="0">
              <a:spcAft>
                <a:spcPts val="1200"/>
              </a:spcAft>
              <a:buNone/>
            </a:pPr>
            <a:endParaRPr lang="fr-FR" sz="10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fr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790CD9-881E-7E1D-FB29-C3A3DD468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Coût du projet en 30 jours pour 500.000 images: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34EFA5-807A-6072-C2DD-78D3F5F3B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fr-FR" dirty="0"/>
              <a:t>Equipes : 1 Développeur Data </a:t>
            </a:r>
            <a:r>
              <a:rPr lang="fr-FR" dirty="0" err="1"/>
              <a:t>Scientist</a:t>
            </a:r>
            <a:r>
              <a:rPr lang="fr-FR" dirty="0"/>
              <a:t> confirmé (7 jours/homme) : </a:t>
            </a:r>
            <a:r>
              <a:rPr lang="fr-FR" dirty="0">
                <a:solidFill>
                  <a:srgbClr val="FF0000"/>
                </a:solidFill>
              </a:rPr>
              <a:t>550</a:t>
            </a:r>
            <a:r>
              <a:rPr lang="fr-FR" dirty="0"/>
              <a:t> x 7</a:t>
            </a:r>
          </a:p>
          <a:p>
            <a:pPr marL="146050" indent="0">
              <a:buNone/>
            </a:pPr>
            <a:r>
              <a:rPr lang="fr-FR" dirty="0"/>
              <a:t>                 2 Stagiaire pour la vérification rapide des images </a:t>
            </a:r>
          </a:p>
          <a:p>
            <a:pPr marL="146050" indent="0">
              <a:buNone/>
            </a:pPr>
            <a:endParaRPr lang="fr-FR" dirty="0"/>
          </a:p>
          <a:p>
            <a:pPr marL="146050" indent="0">
              <a:buNone/>
            </a:pPr>
            <a:r>
              <a:rPr lang="fr-FR" dirty="0">
                <a:solidFill>
                  <a:srgbClr val="FF0000"/>
                </a:solidFill>
              </a:rPr>
              <a:t>Solution préconisée </a:t>
            </a:r>
            <a:r>
              <a:rPr lang="fr-FR" dirty="0"/>
              <a:t>: Cluster de 5 ordinateurs pour réduire le temps de calcul et le temps en jours/hommes.</a:t>
            </a:r>
            <a:endParaRPr lang="fr-FR" dirty="0">
              <a:solidFill>
                <a:srgbClr val="FF0000"/>
              </a:solidFill>
            </a:endParaRPr>
          </a:p>
          <a:p>
            <a:pPr marL="146050" indent="0">
              <a:buNone/>
            </a:pPr>
            <a:endParaRPr lang="fr-FR" dirty="0"/>
          </a:p>
          <a:p>
            <a:pPr marL="146050" indent="0">
              <a:buNone/>
            </a:pPr>
            <a:r>
              <a:rPr lang="fr-FR" dirty="0">
                <a:solidFill>
                  <a:srgbClr val="FF0000"/>
                </a:solidFill>
              </a:rPr>
              <a:t>Coût</a:t>
            </a:r>
            <a:r>
              <a:rPr lang="fr-FR" dirty="0"/>
              <a:t>  du projet en 13 jours : </a:t>
            </a:r>
            <a:r>
              <a:rPr lang="fr-FR" sz="1400" dirty="0">
                <a:solidFill>
                  <a:srgbClr val="FF0000"/>
                </a:solidFill>
              </a:rPr>
              <a:t>⩰ 3850€.</a:t>
            </a:r>
          </a:p>
          <a:p>
            <a:pPr marL="146050" indent="0">
              <a:buNone/>
            </a:pPr>
            <a:endParaRPr lang="fr-FR" sz="1400" dirty="0">
              <a:solidFill>
                <a:srgbClr val="FF0000"/>
              </a:solidFill>
            </a:endParaRPr>
          </a:p>
          <a:p>
            <a:pPr marL="146050" indent="0">
              <a:buNone/>
            </a:pPr>
            <a:r>
              <a:rPr lang="fr-FR" sz="1400" dirty="0">
                <a:solidFill>
                  <a:schemeClr val="bg1"/>
                </a:solidFill>
              </a:rPr>
              <a:t>Coût du projet en </a:t>
            </a:r>
            <a:r>
              <a:rPr lang="fr-FR" sz="1400" dirty="0">
                <a:solidFill>
                  <a:srgbClr val="FF0000"/>
                </a:solidFill>
              </a:rPr>
              <a:t>30 jours </a:t>
            </a:r>
            <a:r>
              <a:rPr lang="fr-FR" sz="1400" dirty="0">
                <a:solidFill>
                  <a:schemeClr val="bg1"/>
                </a:solidFill>
              </a:rPr>
              <a:t>avec 1 seul ordinateur : </a:t>
            </a:r>
            <a:r>
              <a:rPr lang="fr-FR" sz="1400" dirty="0">
                <a:solidFill>
                  <a:srgbClr val="FF0000"/>
                </a:solidFill>
              </a:rPr>
              <a:t>⩰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rgbClr val="FF0000"/>
                </a:solidFill>
              </a:rPr>
              <a:t>11000 €</a:t>
            </a:r>
          </a:p>
          <a:p>
            <a:pPr marL="146050" indent="0">
              <a:buNone/>
            </a:pPr>
            <a:endParaRPr lang="fr-FR" sz="1400" dirty="0">
              <a:solidFill>
                <a:srgbClr val="FF0000"/>
              </a:solidFill>
            </a:endParaRPr>
          </a:p>
          <a:p>
            <a:pPr marL="146050" indent="0">
              <a:buNone/>
            </a:pPr>
            <a:endParaRPr lang="fr-FR" sz="1400" dirty="0">
              <a:solidFill>
                <a:srgbClr val="FF0000"/>
              </a:solidFill>
            </a:endParaRPr>
          </a:p>
          <a:p>
            <a:pPr marL="14605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0055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Bilan du projet réalisé</a:t>
            </a:r>
            <a:endParaRPr dirty="0"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249447"/>
            <a:ext cx="7038900" cy="35808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/>
              <a:t>Résumez  : </a:t>
            </a:r>
            <a:endParaRPr sz="25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FF0000"/>
                </a:solidFill>
              </a:rPr>
              <a:t>Les défis techniques rencontrés :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chemeClr val="bg1"/>
                </a:solidFill>
              </a:rPr>
              <a:t>Scripting Python (Librairies spéciales, robustesse, Classes d’objets, Affichage en label, Requête API d’un modèle)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chemeClr val="bg1"/>
                </a:solidFill>
              </a:rPr>
              <a:t>Pertinence de la Méthode d’Evaluation du modèle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FF0000"/>
                </a:solidFill>
              </a:rPr>
              <a:t>Améliorations :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 dirty="0"/>
              <a:t>Essayez d’améliorer le modèle, détecter les cravates, les lunettes de soleil accrochées aux chemises, rajouter des classes d’objets.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 dirty="0"/>
              <a:t>Réduire les faux positifs et faux négatifs.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 dirty="0"/>
              <a:t>Mutualiser les capacités de calcul, cluster de plusieurs PC pour passer à l’échelle et réduire le coût.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FF0000"/>
                </a:solidFill>
              </a:rPr>
              <a:t>Les applications potentielles pour les clients de ModeTrend</a:t>
            </a:r>
          </a:p>
          <a:p>
            <a:pPr marL="0" lvl="0" indent="0" algn="l" defTabSz="179388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FR" sz="2500" b="1" dirty="0">
                <a:solidFill>
                  <a:schemeClr val="bg1"/>
                </a:solidFill>
              </a:rPr>
              <a:t> Segmentation vestimentaire </a:t>
            </a:r>
            <a:r>
              <a:rPr lang="fr-FR" sz="2500" dirty="0"/>
              <a:t>: être capable d'identifier et d'isoler avec précision chaque pièce vestimentaire dans une image.</a:t>
            </a:r>
          </a:p>
          <a:p>
            <a:pPr marL="0" indent="0" defTabSz="179388">
              <a:buNone/>
            </a:pPr>
            <a:endParaRPr lang="fr-FR" sz="2500" b="1" dirty="0">
              <a:solidFill>
                <a:srgbClr val="FF0000"/>
              </a:solidFill>
            </a:endParaRPr>
          </a:p>
          <a:p>
            <a:pPr marL="0" indent="0" defTabSz="179388">
              <a:buNone/>
            </a:pPr>
            <a:r>
              <a:rPr lang="fr-FR" sz="2500" b="1" dirty="0">
                <a:solidFill>
                  <a:schemeClr val="bg1"/>
                </a:solidFill>
              </a:rPr>
              <a:t>Analyse stylistique </a:t>
            </a:r>
            <a:r>
              <a:rPr lang="fr-FR" sz="2500" dirty="0">
                <a:solidFill>
                  <a:schemeClr val="bg1"/>
                </a:solidFill>
              </a:rPr>
              <a:t>: </a:t>
            </a:r>
            <a:r>
              <a:rPr lang="fr-FR" sz="2500" dirty="0"/>
              <a:t>être capable de classifier les pièces selon leur nature, couleur, texture et style.</a:t>
            </a:r>
          </a:p>
          <a:p>
            <a:pPr marL="0" indent="0" defTabSz="179388">
              <a:buNone/>
            </a:pPr>
            <a:endParaRPr lang="fr-FR" sz="2500" dirty="0"/>
          </a:p>
          <a:p>
            <a:pPr marL="0" indent="0" defTabSz="179388">
              <a:buNone/>
            </a:pPr>
            <a:r>
              <a:rPr lang="fr-FR" sz="2500" b="1" dirty="0">
                <a:solidFill>
                  <a:schemeClr val="bg1"/>
                </a:solidFill>
              </a:rPr>
              <a:t>Agrégation de tendances </a:t>
            </a:r>
            <a:r>
              <a:rPr lang="fr-FR" sz="2500" dirty="0">
                <a:solidFill>
                  <a:schemeClr val="bg1"/>
                </a:solidFill>
              </a:rPr>
              <a:t>: </a:t>
            </a:r>
            <a:r>
              <a:rPr lang="fr-FR" sz="2500" dirty="0"/>
              <a:t>être capable de compiler ces données sur des milliers de publications pour identifier les tendances émergentes.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737</Words>
  <Application>Microsoft Office PowerPoint</Application>
  <PresentationFormat>Affichage à l'écran (16:9)</PresentationFormat>
  <Paragraphs>74</Paragraphs>
  <Slides>8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Lato</vt:lpstr>
      <vt:lpstr>Montserrat</vt:lpstr>
      <vt:lpstr>Inter</vt:lpstr>
      <vt:lpstr>Focus</vt:lpstr>
      <vt:lpstr>Fashion Trend Intelligence</vt:lpstr>
      <vt:lpstr>Présentation du projet</vt:lpstr>
      <vt:lpstr>Fonctionnement de Segformer</vt:lpstr>
      <vt:lpstr>Performances du modèle sur les 50 images </vt:lpstr>
      <vt:lpstr>Proposition d’une méthode de validation du modèle</vt:lpstr>
      <vt:lpstr>Passage à l’échelle</vt:lpstr>
      <vt:lpstr>Coût du projet en 30 jours pour 500.000 images: </vt:lpstr>
      <vt:lpstr>Bilan du projet réalisé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johnd</dc:creator>
  <cp:lastModifiedBy>Jonathan Desurmont</cp:lastModifiedBy>
  <cp:revision>2</cp:revision>
  <dcterms:modified xsi:type="dcterms:W3CDTF">2026-04-03T02:33:57Z</dcterms:modified>
</cp:coreProperties>
</file>